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32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1887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校园外卖两段式配送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数据库系统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Delivery Two-Stage Distribution Database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</a:rPr>
              <a:t>Flask + ECharts + MySQL + DeepSeek AI 实时监控大屏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数据库系统期末答辩项目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0" y="4206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XMU DBMS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920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校园外卖配送现状与两段式模型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系统功能需求与数据流分析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概念结构设计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8346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实体关系与E-R模型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3017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逻辑结构设计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3291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关系模式与表结构定义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474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数据库建立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749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DDL建库建表与索引策略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4592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存储过程、触发器、视图与状态机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4389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4592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监控大屏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45920" y="4663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实时数据可视化与AI查询助手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846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45920" y="4846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总结展望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45920" y="51206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项目总结与未来改进方向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463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OF THE TOPIC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本章节简要介绍了校园外卖配送的现状与痛点，以及两段式配送模型的提出背景与意义。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校园外卖配送现状与痛点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高校校园外卖日均订单量持续增长，已成为学生生活刚需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传统外卖平台存在"最后500米"配送难题：校外骑手无法进入宿舍区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学生需下楼自取外卖，恶劣天气体验极差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高峰时段（11:30-12:30、17:30-18:30）订单集中，配送压力巨大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缺乏统一的中转缓冲机制，骑手与学生时间难以匹配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两段式配送模型的提出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参考安徽财经大学等高校"接力式"配送实践经验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第一段（干线运输）：商家 → 寄存点，干线骑手批量运输，单次可携带多单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第二段（楼栋配送）：寄存点 → 宿舍，楼栋骑手精准送达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寄存点作为缓冲层解耦两段节奏，解决"人等餐、餐等人"的问题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干线骑手专注效率（批量运输），楼栋骑手专注精准（熟悉宿舍分布）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项目目标与意义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设计并实现一套完整的两段式配送数据库系统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通过MySQL行级锁、触发器与存储过程保障高并发下数据一致性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实现全生命周期订单状态机，追踪每个订单的两段配送进度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集成Flask + ECharts实时监控大屏，运维人员可直观掌控配送全局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引入DeepSeek Text-to-SQL智能查询，降低数据查询门槛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覆盖从数据库设计、模拟数据生成到可视化运维的全链路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463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本章节分析了校园外卖两段式配送系统的功能需求，包括用户管理、商品管理、配送管理、寄存点管理等核心模块。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系统功能需求总览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用户管理：学生注册、校园卡余额管理、宿舍楼栋绑定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商家管理：校内商家入驻、菜品上架/下架、评分维护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菜品管理：菜品库存实时更新、价格管理、状态控制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寄存点管理：12个宿舍区寄存点、容量上限监控、包裹计数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骑手管理：干线/楼栋骑手分工、空闲/配送中/离线状态追踪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订单管理：六状态流转、双骑手绑定、全链路时间审计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核心业务流程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下单流程：学生选餐 → 校园卡扣款 → 库存校验 → 生成订单(Paid)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干线配送：指派干线骑手 → 商家取餐 → 送达寄存点(Arrived_At_Point)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楼栋配送：指派楼栋骑手 → 寄存点取件 → 送达宿舍(Completed)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取消流程：任意前序阶段可取消 → 退款 → 恢复库存 → 释放骑手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监控流程：30秒自动刷新 → KPI指标 → 饱和度预警 → 爆仓告警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AI查询：中文自然语言 → DeepSeek Text-to-SQL → 结果表格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数据流分析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→ 浏览菜品(dishes) → 创建订单(orders) → 扣减余额(users.balance)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 → 关联干线骑手(riders) → 配送至寄存点(pickup_points) → 包裹+1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寄存点 → 关联楼栋骑手(riders) → 配送至宿舍 → 包裹-1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订单明细(order_items) → 触发库存扣减(dishes.stock) → 记录成交快照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监控大屏 ← Flask API ← MySQL视图(vw_pickup_point_analytics等)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AI助手 ← DeepSeek API ← 生成SQL ← 执行查询 ← 返回结果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463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CONCEPTUAL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概念结构设计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本章节分析了各实体之间的关系（一对一、一对多、多对多），确立实体在系统中的逻辑联系，据此构建实体关系图（E-R图）。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实体间关系 - 一对多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用户(users) → 订单(orders)：一个用户可下多个订单，每个订单只属于一个用户 — 1:N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商家(merchants) → 菜品(dishes)：一个商家提供多个菜品，每个菜品只属于一个商家 — 1:N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商家(merchants) → 订单(orders)：一个商家可接收多个订单，每个订单只对应一个商家 — 1:N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寄存点(pickup_points) → 订单(orders)：一个寄存点可存放多个订单包裹，每个订单只分配一个寄存点 — 1:N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干线骑手(riders) → 订单(orders)：一个干线骑手可配送多个订单 — 1:N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楼栋骑手(riders) → 订单(orders)：一个楼栋骑手可配送多个订单 — 1:N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实体间关系 - 多对多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订单(orders) ↔ 菜品(dishes)：一个订单包含多个菜品，一个菜品可被多个订单订购 — M:N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通过订单明细(order_items)作为中间表，记录每个订单中每个菜品的数量和成交快照单价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同时，order_items表承载库存扣减触发器和超卖防��触发器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E-R图 - 实体属性图 (1)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users: user_id(PK), username, phone, dorm_building, room_number, balance, created_at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merchants: merchant_id(PK), merchant_name, phone, address, rating, created_at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dishes: dish_id(PK), merchant_id(FK), dish_name, price, stock, status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pickup_points: point_id(PK), point_name, location, capacity, current_packages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E-R图 - 实体属性图 (2)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riders: rider_id(PK), rider_name, phone, rider_type(Stage1_Trunk/Stage2_Floor), status(Idle/Delivering/Offline)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orders: order_id(PK), user_id(FK), merchant_id(FK), pickup_point_id(FK), total_amount, order_status(6种状态), stage1_rider_id(FK), stage2_rider_id(FK), created_at, stage1_completed_at, stage2_completed_at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order_items: item_id(PK), order_id(FK), dish_id(FK), quantity, price_at_order(成交快照)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全局E-R图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 ||--o{ ORDERS : 下单 (1:N)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MERCHANTS ||--o{ DISHES : 提供菜品 (1:N)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MERCHANTS ||--o{ ORDERS : 接单 (1:N)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DISHES ||--o{ ORDER_ITEMS : 被订购 (1:N)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 ||--|{ ORDER_ITEMS : 订单明细 (1:N)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PICKUP_POINTS ||--o{ ORDERS : 寄存中转 (1:N)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RIDERS ||--o{ ORDERS : 干线配送/楼栋配送 (1:N)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共7张核心表，遵循3NF，完备外键级联，支持两段式配送全生命周期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463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逻辑结构设计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本章节定义了7个关系模式，明确各字段、类型、约束条件以及各实体的关联关系。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关系模式总览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核心字段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主键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外键约束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username, phone, dorm_building, balance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user_id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merchants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merchant_name, phone, address, rating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merchant_id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dishes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dish_name, price, stock, status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dish_id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merchants(merchant_id)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pickup_points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point_name, location, capacity, current_packages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point_id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riders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rider_name, phone, rider_type, status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rider_id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orders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total_amount, order_status, stage1/2_rider_id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order_id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users, merchants, pickup_points, riders×2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order_items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quantity, price_at_order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item_id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orders(order_id), dishes(dish_id)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 用户表 &amp; merchants 商家表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users: user_id(PK AUTO_INCREMENT), username(VARCHAR 50), phone(VARCHAR 20 UNIQUE), dorm_building(VARCHAR 20), room_number(VARCHAR 10), balance(DECIMAL 10,2, CHECK&gt;=0), created_at(TIMESTAMP)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商家表: merchant_id(PK AUTO_INCREMENT), merchant_name(VARCHAR 100), phone(VARCHAR 20), address(VARCHAR 200), rating(DECIMAL 2,1, CHECK 1.0~5.0), created_at(TIMESTAMP)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users表: 校园卡余额字段balance，宿舍楼栋dorm_building关联寄存点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merchants表: 评分约束1.0~5.0，档口地址记录具体位置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dishes 菜品表 &amp; pickup_points 寄存点表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dishes: dish_id(PK), merchant_id(FK→merchants), dish_name(VARCHAR 100), price(DECIMAL 8,2, CHECK&gt;0), stock(INT, CHECK&gt;=0), status(TINYINT, 0下架/1上架)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pickup_points: point_id(PK), point_name(VARCHAR 50), location(VARCHAR 200), capacity(INT), current_packages(INT, CHECK&gt;=0), CHECK(current_packages&lt;=capacity)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dishes表: stock实时库存由触发器自动扣减，status控制上下架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pickup_points表: capacity上限约束防超容，current_packages联动两段配送过程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riders 骑手表 &amp; orders 订单主表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riders: rider_id(PK), rider_name, phone(UNIQUE), rider_type(ENUM: Stage1_Trunk/Stage2_Floor), status(ENUM: Idle/Delivering/Offline)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orders: order_id(PK), user_id(FK), merchant_id(FK), pickup_point_id(FK), total_amount, order_status(ENUM: Paid/Stage1_Assigned/Arrived_At_Point/Stage2_Assigned/Completed/Cancelled), stage1_rider_id(FK→riders), stage2_rider_id(FK→riders), created_at, stage1_completed_at, stage2_completed_at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核心创新：双骑手ID追踪两段配送，三时间戳全链路审计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order_items 订单明细表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order_items: item_id(PK), order_id(FK→orders ON DELETE CASCADE), dish_id(FK→dishes), quantity(INT, CHECK&gt;0), price_at_order(DECIMAL 8,2)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price_at_order: 记录下单瞬间的菜品快照单价，避免后续价格变动影响历史订单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quantity: 购买数量，CHECK约束保证大于0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 DELETE CASCADE: 订单删除时明细自动删除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463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CONSTRUCTION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数据库建立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本章节基于MySQL创建campus_delivery_db关系型数据库，建立7个核心表并通过索引优化查询性能。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建库与users/merchants表DDL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2743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IF NOT EXISTS campus_delivery_db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CHARSET utf8mb4 COLLATE utf8mb4_general_ci;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users 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user_id INT AUTO_INCREMENT PRIMARY KEY,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username VARCHAR(50) NOT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 VARCHAR(20) NOT NULL UNIQUE,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dorm_building VARCHAR(20) NOT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balance DECIMAL(10,2) DEFAULT 100.00 CHECK(balance&gt;=0)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ENGINE=InnoDB;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dishes与pickup_points表DDL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447141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7680960" cy="4288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dishes 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dish_id INT AUTO_INCREMENT PRIMARY KEY,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merchant_id INT NOT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dish_name VARCHAR(100) NOT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 DECIMAL(8,2) NOT NULL CHECK(price&gt;0),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stock INT NOT NULL DEFAULT 0 CHECK(stock&gt;=0),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TINYINT DEFAULT 1 CHECK(status IN(0,1)),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(merchant_id) REFERENCES merchants(merchant_id)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ENGINE=InnoDB;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pickup_points 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point_id INT AUTO_INCREMENT PRIMARY KEY,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point_name VARCHAR(50) NOT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capacity INT NOT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current_packages INT DEFAULT 0,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CHECK(current_packages &lt;= capacity)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ENGINE=InnoDB;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riders与orders表DDL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61996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7680960" cy="6016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riders 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rider_id INT AUTO_INCREMENT PRIMARY KEY,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rider_name VARCHAR(50) NOT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rider_type ENUM('Stage1_Trunk','Stage2_Floor') NOT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ENUM('Idle','Delivering','Offline')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ENGINE=InnoDB;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orders 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order_id INT AUTO_INCREMENT PRIMARY KEY,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user_id INT NOT NULL, merchant_id INT NOT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pickup_point_id INT NOT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total_amount DECIMAL(10,2) NOT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order_status ENUM('Paid','Stage1_Assigned',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'Arrived_At_Point','Stage2_Assigned',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'Completed','Cancelled') DEFAULT 'Paid',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stage1_rider_id INT, stage2_rider_id INT,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created_at TIMESTAMP DEFAULT CURRENT_TIMESTAMP,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stage1_completed_at TIMESTAMP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stage2_completed_at TIMESTAMP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(user_id) REFERENCES users(user_id),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(merchant_id) REFERENCES merchants(merchant_id),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(stage1_rider_id) REFERENCES riders(rider_id),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(stage2_rider_id) REFERENCES riders(rider_id)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ENGINE=InnoDB;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order_items表与索引策略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3977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768096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order_items 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item_id INT AUTO_INCREMENT PRIMARY KEY,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order_id INT NOT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dish_id INT NOT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quantity INT NOT NULL CHECK(quantity&gt;0),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price_at_order DECIMAL(8,2) NOT NULL,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(order_id) REFERENCES orders(order_id)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CASCADE,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(dish_id) REFERENCES dishes(dish_id)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ENGINE=InnoDB;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索引策略 (B-Tree Indexing)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idx_orders_status ON orders(order_status);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idx_orders_created ON orders(created_at);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idx_dishes_merchant ON dishes(merchant_id, status);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数据规模与种子数据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users: 100条学生记录，随机分配宿舍楼栋与校园卡余额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merchants: 20家校内外卖商家，评分1.0~5.0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dishes: 160条菜品，关联商家，随机库存0~100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pickup_points: 12个寄存点，容量50~120件不等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riders: 15名骑手（8名干线 + 7名楼栋），初始状态Idle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orders: 5000条订单记录，历史订单全部Completed，今日订单含各种实时状态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order_items: ~10000条明细记录，每订单平均2条明细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生成工具: generate_mock_data.py（Pandas + Faker），含2个寄存点爆仓场景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463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IMPLEMENTATION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核心功能实现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本章节介绍存储过程、触发器、视图、状态机等核心数据库功能的实现细节，涵盖下单、配送、取消全链路。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防超卖机制 - 库存校验触发器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trg_check_dish_stock_before_order (BEFORE INSERT ON order_items)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SELECT ... FOR UPDATE 行级锁锁定库存行，防止并发超卖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校验逻辑：(1) 商品是否下架 (status=0则SIGNAL报错)；(2) 库存是否充足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异常处理：SIGNAL SQLSTATE '45000' 抛出具体中文错误信息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行级锁确保事务隔离级别下的库存绝对安全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库存校验触发器代码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422452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7680960" cy="404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trg_check_dish_stock_before_order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INSERT ON order_items FOR EACH ROW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DECLARE v_stock INT;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DECLARE v_status TINYINT;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stock, status INTO v_stock, v_status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dishes WHERE dish_id = NEW.dish_id FOR UPDATE;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v_status = 0 THEN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SIGNAL SQLSTATE '45000'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 MESSAGE_TEXT = '下单失败：商品已下架！';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IF;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v_stock &lt; NEW.quantity THEN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SIGNAL SQLSTATE '45000'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 MESSAGE_TEXT = '下单失败：库存不足！';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IF;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库存自动扣减触发器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trg_reduce_dish_stock_after_order (AFTER INSERT ON order_items)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下单成功后自动触发：UPDATE dishes SET stock = stock - NEW.quantity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对每一行明细执行扣减，无需应用层额外操作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与BEFORE INSERT触发器配合，形成完整的防超卖闭环：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BEFORE触发 → 校验库存/状态 → AFTER触发 → 自动扣减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两段式订单状态机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Paid（已支付）：订单初始状态，待干线骑手接单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Stage1_Assigned（干线配送）：干线骑手取餐配送至寄存点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Arrived_At_Point（寄存待取）：包裹已入柜，等待楼栋骑手接单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Stage2_Assigned（楼栋配送）：楼栋骑手从寄存点取出，送往宿舍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Completed（已完成）：学生收餐，订单完成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Cancelled（已取消）：任意前序阶段均可触发取消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下单存储过程 sp_create_order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IN参数：p_user_id, p_merchant_id, p_point_id, p_dish_id, p_quantity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OUT参数：o_order_id（返回新订单ID）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事务流程：(1) 获取菜品快照价格 → (2) 检查校园卡余额 → (3) 扣减余额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 (4) 插入orders表(Paid状态) → (5) 插入order_items(触发两个触发器)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异常处理：DECLARE EXIT HANDLER FOR SQLEXCEPTION → ROLLBACK + RESIGNAL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关键保障：START TRANSACTION ... COMMIT 包裹完整事务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sp_create_order 核心代码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595274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7680960" cy="5769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PROCEDURE sp_create_order(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p_user_id INT, IN p_merchant_id INT,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p_point_id INT, IN p_dish_id INT,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p_quantity INT, OUT o_order_id INT)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DECLARE EXIT HANDLER FOR SQLEXCEPTION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BEGIN ROLLBACK; RESIGNAL; END;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 TRANSACTION;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price INTO v_dish_price FROM dishes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dish_id = p_dish_id;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balance INTO v_user_balance FROM users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user_id = p_user_id;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v_user_balance &lt; v_dish_price * p_quantity THEN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SIGNAL SQLSTATE '45000'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 MESSAGE_TEXT = '校园卡余额不足！';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IF;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users SET balance = balance - v_total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user_id = p_user_id;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INTO orders (...) VALUES (...);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o_order_id = LAST_INSERT_ID();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 INTO order_items (...) VALUES (...);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COMMIT;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干线到站存储过程 sp_arrive_at_pickup_point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IN参数：p_order_id（订单ID）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事务流程：(1) 获取pickup_point_id和stage1_rider_id →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(2) UPDATE orders → Arrived_At_Point + stage1_completed_at时间戳 →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(3) 释放干线骑手状态为Idle →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(4) 寄存点current_packages +1（触发CHECK约束容量检查）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自动推进状态机：Stage1_Assigned → Arrived_At_Point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楼栋送达存储过程 sp_stage2_deliver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IN参数：p_order_id（订单ID）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事务流程：(1) 获取pickup_point_id和stage2_rider_id →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(2) UPDATE orders → Completed + stage2_completed_at时间戳 →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(3) 释放楼栋骑手状态为Idle →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(4) 寄存点current_packages -1（保障&gt;=0）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自动推进状态机：Stage2_Assigned → Completed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取消订单存储过程 sp_cancel_order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IN参数：p_order_id（订单ID）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事务流程：(1) 获取订单基本信息 → (2) 检查状态(Completed/Cancelled不可取消) →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(3) 退款到学生校园卡 → (4) 游标遍历order_items恢复菜品库存 →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(5) 若包裹已入柜则扣减current_packages → (6) 释放干线+楼栋骑手 →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(7) 标记Cancelled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创新点：使用CURSOR游标遍历订单所有明细项，逐项恢复库存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sp_cancel_order 游标恢复库存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8046720" cy="3483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7680960" cy="3300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cur CURSOR FOR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dish_id, quantity FROM order_items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order_id = p_order_id;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DECLARE CONTINUE HANDLER FOR NOT FOUND SET done=1;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cur;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read_loop: LOOP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FETCH cur INTO v_dish_id, v_qty;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done THEN LEAVE read_loop; END IF;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dishes SET stock = stock + v_qty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dish_id = v_dish_id;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LOOP;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cur;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分析视图设计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vw_pickup_point_analytics: 寄存点饱和度分析视图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关联pickup_points与orders，计算saturation_pct = current/capacity*100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统计Arrived_At_Point/Stage2_Assigned状态的积压件数backlog_count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监控大屏实时显示12个寄存点饱和度柱状图 + 爆仓预警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vw_merchant_sales_rank: 商户销售排行视图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关联merchants与orders(Completed)，统计total_orders和total_sales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使用RANK() OVER (ORDER BY SUM(total_amount) DESC)窗口函数排行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监控大屏Top 10商户销售额柱状图（蓝色渐变）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463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监控大屏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本章节简要介绍Flask + ECharts实时监控大屏的功能模块与技术实现。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大屏功能概览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5大KPI指标卡：今日订单量、营业额、在途骑手、活跃商家、爆仓预警（超标红色呼吸灯）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订单状态分布：实时配送状态环形图，中心显示订单总数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近期订单流水：最新15条订单滚动列表，彩色状态标签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寄存点饱和度：12个寄存点横向柱状图，绿(&lt;60%)/黄(60-80%)/红(&gt;80%)三级预警 + 爆仓线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商户销售排行：Top 10商户销售额柱状图，蓝色渐变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时段订单分布：各时段订单柱状图 + 客单价折线叠加（双Y轴）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大屏技术实现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后端：Flask REST API，10+个数据接口，时间范围筛选(today/7d/30d/本月/全部)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前端：原生HTML + CDN引入ECharts 5.5，单文件app.py内嵌完整HTML大屏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连接池：PyMySQL + DBUtils(PooledDB)，mincached=2, maxconnections=10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实时刷新：today模式30秒自动刷新，历史模式展示已完成状态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6个Tab切换：数据大屏 + 商户信息 + 学生用户 + 菜品信息 + 骑手信息 + 寄存站点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AI智能查询助手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Chat API Text-to-SQL：中文自然语言 → SQL → 结果表格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Schema注入：每次请求携带完整7表+2视图结构，确保AI准确理解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安全拦截：(1) 仅允许SELECT；(2) 危险关键字拦截(INSERT/UPDATE/DELETE/DROP等)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快捷问题：预设'哪个商家销售额最高？''今天各时段订单分布？''各寄存点饱和度情况？'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支持CSV下载查询结果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前端：深色主题UI，左右布局展示SQL语句 + 结果表格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4630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AND REFLECTION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总结展望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本章节总结了项目的核心成果与创新亮点，并对未来扩展方向进行展望。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项目成果总结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完成了校园外卖两段式配送数据库系统的完整设计与实现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设计了7张核心表，严格遵循3NF范式，配备完整外键级联与CHECK约束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实现了4个存储过程覆盖下单→干线配送→楼栋配送→取消全链路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编写了2个触发器实现高并发防超卖：BEFORE校验 + AFTER自动扣减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创建了2个分析视图(寄存点饱和度 + 商户排行)，支撑大屏可视化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搭建了Flask + ECharts实时监控大屏，集成DeepSeek Text-to-SQL AI助手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核心创新亮点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两段式配送模型：干线运输与楼栋配送解耦，寄存点作为缓冲层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高并发防超卖：SELECT FOR UPDATE行级锁 + 触发器双重保障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全生命周期状态机：6种订单状态精确追踪，双骑手ID + 三时间戳全链路审计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游标恢复库存：取消订单时CURSOR逐项恢复，事务保证一致性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实时+历史双模式大屏：30秒刷新 vs 趋势统计，联动时间范围切换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AI自然语言查询：DeepSeek Text-to-SQL降低数据查询门槛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80467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移动端适配：开发微信小程序，学生可实时追踪订单配送状态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GPS实时追踪：干线/楼栋骑手位置实时展示在地图上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智能寄存柜IoT集成：扫码开柜、自动签收，减少人工操作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路径优化算法：基于宿舍分布规划楼栋骑手最优配送路线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数据挖掘：用户偏好分析、商家销量预测、高峰时段预警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微服务化：将订单服务、骑手服务、寄存点服务拆分为独立微服务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FOR WATCHING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474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6F1"/>
                </a:solidFill>
              </a:rPr>
              <a:t>校园外卖两段式配送数据库系统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Flask + ECharts + MySQL + DeepSeek AI · v4.0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XMU DBMS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校园外卖两段式配送数据库系统</dc:title>
  <dc:subject>PptxGenJS Presentation</dc:subject>
  <dc:creator>Campus Delivery Team</dc:creator>
  <cp:lastModifiedBy>Campus Delivery Team</cp:lastModifiedBy>
  <cp:revision>1</cp:revision>
  <dcterms:created xsi:type="dcterms:W3CDTF">2026-05-27T07:56:44Z</dcterms:created>
  <dcterms:modified xsi:type="dcterms:W3CDTF">2026-05-27T07:56:44Z</dcterms:modified>
</cp:coreProperties>
</file>