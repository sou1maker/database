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时段订单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早餐</c:v>
                  </c:pt>
                  <c:pt idx="1">
                    <c:v>午餐</c:v>
                  </c:pt>
                  <c:pt idx="2">
                    <c:v>晚餐</c:v>
                  </c:pt>
                  <c:pt idx="3">
                    <c:v>夜宵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350</c:v>
                </c:pt>
                <c:pt idx="1">
                  <c:v>2100</c:v>
                </c:pt>
                <c:pt idx="2">
                  <c:v>1850</c:v>
                </c:pt>
                <c:pt idx="3">
                  <c:v>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营收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34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商家A</c:v>
                  </c:pt>
                  <c:pt idx="1">
                    <c:v>商家B</c:v>
                  </c:pt>
                  <c:pt idx="2">
                    <c:v>商家C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15200</c:v>
                </c:pt>
                <c:pt idx="1">
                  <c:v>12300</c:v>
                </c:pt>
                <c:pt idx="2">
                  <c:v>9800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状态分布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bubble3D val="0"/>
            <c:spPr>
              <a:solidFill>
                <a:srgbClr val="0891B2"/>
              </a:solidFill>
              <a:effectLst/>
            </c:spPr>
          </c:dPt>
          <c:dPt>
            <c:idx val="2"/>
            <c:bubble3D val="0"/>
            <c:spPr>
              <a:solidFill>
                <a:srgbClr val="0F346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0891B2"/>
              </a:solidFill>
              <a:effectLst/>
            </c:spPr>
          </c:dPt>
          <c:dPt>
            <c:idx val="5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已下单</c:v>
                </c:pt>
                <c:pt idx="1">
                  <c:v>干线指派</c:v>
                </c:pt>
                <c:pt idx="2">
                  <c:v>已取件</c:v>
                </c:pt>
                <c:pt idx="3">
                  <c:v>到寄存点</c:v>
                </c:pt>
                <c:pt idx="4">
                  <c:v>楼栋指派</c:v>
                </c:pt>
                <c:pt idx="5">
                  <c:v>已送达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520</c:v>
                </c:pt>
                <c:pt idx="1">
                  <c:v>780</c:v>
                </c:pt>
                <c:pt idx="2">
                  <c:v>950</c:v>
                </c:pt>
                <c:pt idx="3">
                  <c:v>1100</c:v>
                </c:pt>
                <c:pt idx="4">
                  <c:v>850</c:v>
                </c:pt>
                <c:pt idx="5">
                  <c:v>800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占用率%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</c:v>
                </c:pt>
                <c:pt idx="1">
                  <c:v>85</c:v>
                </c:pt>
                <c:pt idx="2">
                  <c:v>72</c:v>
                </c:pt>
                <c:pt idx="3">
                  <c:v>65</c:v>
                </c:pt>
                <c:pt idx="4">
                  <c:v>58</c:v>
                </c:pt>
                <c:pt idx="5">
                  <c:v>52</c:v>
                </c:pt>
                <c:pt idx="6">
                  <c:v>48</c:v>
                </c:pt>
                <c:pt idx="7">
                  <c:v>42</c:v>
                </c:pt>
                <c:pt idx="8">
                  <c:v>38</c:v>
                </c:pt>
                <c:pt idx="9">
                  <c:v>35</c:v>
                </c:pt>
                <c:pt idx="10">
                  <c:v>30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基于数智化转型的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校园外卖两段式配送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数据库系统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数据库系统课程项目 · 答辩汇报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0972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答辩团队 |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617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MySQL 8.0 · Flask · ECharts · DeepSeek 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4124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4300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项目背景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市场痛点与解决方案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43000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6460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4068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系统设计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架构 · 数据库 · 状态机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84248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4300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核心技术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行锁 · 事务 · 窗口函数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984248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6460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4068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AI与数据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4068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 · 压测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25496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6692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4300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ECharts实时监控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2825496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6460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4068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饱和度监控与应对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66744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6692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创新总结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七大创新点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666744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6460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544068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展望致谢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未来规划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项目背景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市场分析 · 痛点识别 · 解决方案定位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校园外卖市场与配送瓶颈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4,500亿+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中国外卖市场 2025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年增长率22.4%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87752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2,800万+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87752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高校在校生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87752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外卖高频用户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18304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64024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64024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高峰时段订单集中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024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11:30-12:30午高峰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94576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40296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940296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末端交付失败率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40296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门禁限制所致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2468880"/>
          <a:ext cx="4114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754880" y="2468880"/>
            <a:ext cx="40233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98348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核心矛盾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983480" y="30175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校外骑手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被宿舍门禁阻挡
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</a:rPr>
              <a:t>寄存点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高峰爆仓风险高
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运营数据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缺乏量化支撑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传统校园外卖三大痛点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34440" y="1417320"/>
            <a:ext cx="822960" cy="822960"/>
          </a:xfrm>
          <a:prstGeom prst="ellipse">
            <a:avLst/>
          </a:prstGeom>
          <a:solidFill>
            <a:srgbClr val="EF4444">
              <a:alpha val="1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门禁割裂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宿舍安保禁止校外骑手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进入楼栋，最后100米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交付链断裂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114800" y="1417320"/>
            <a:ext cx="822960" cy="822960"/>
          </a:xfrm>
          <a:prstGeom prst="ellipse">
            <a:avLst/>
          </a:prstGeom>
          <a:solidFill>
            <a:srgbClr val="F59E0B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高峰爆仓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午晚餐高峰数百单瞬时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涌入，寄存点容量不足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超卖频发包裹堆积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95160" y="1417320"/>
            <a:ext cx="822960" cy="822960"/>
          </a:xfrm>
          <a:prstGeom prst="ellipse">
            <a:avLst/>
          </a:prstGeom>
          <a:solidFill>
            <a:srgbClr val="0F3460">
              <a:alpha val="1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9951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决策盲区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无统一数据平台，商家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无法评估运营效率，骑手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绩效靠人工统计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两段式配送模型：破解三大痛点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1554480" cy="914400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商家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备货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干线骑手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794760" y="1188720"/>
            <a:ext cx="1554480" cy="91440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校内寄存点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57784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7784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楼栋骑手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60920" y="1188720"/>
            <a:ext cx="1554480" cy="91440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6092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学生手中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2331720"/>
            <a:ext cx="333756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377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 商家→寄存点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49040" y="233172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2377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 寄存点→宿舍楼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模型优势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337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分流管理：干线骑手专注跨区域运输，不受门禁限制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639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效率提升：楼栋骑手熟悉宿舍分布，末端配送时间缩短40%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39410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全程可追溯：t_order_tracking 记录每一次状态变更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系统设计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三层架构 · 7表3NF · 六态状态机 · 技术栈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系统三层架构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280160"/>
            <a:ext cx="64008" cy="960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463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展现层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Flask Web + ECharts 数据可视化大屏 · localhost:5000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0" y="10058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468880"/>
            <a:ext cx="64008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65176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265176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Flask RESTful API · 订单管理 · 骑手调度 · AI-SQL · 4个存储过程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21945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657600"/>
            <a:ext cx="64008" cy="9601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84048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数据持久层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43200" y="38404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MySQL 8.0 · 7张核心表 · 严格3NF · FOR UPDATE行级锁 · 3个业务视图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技术栈全景图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后端框架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Python 轻量级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18872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7表·存储过程·视图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前端可视化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12种图表·实时刷新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AI引擎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Text-to-SQL·三层防线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数据生成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2900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5000条仿真订单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localhost:5000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0936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Flask内置服务器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数据库设计 — ER图（7张核心表 · 严格3NF）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pic>
        <p:nvPicPr>
          <p:cNvPr id="5" name="Image 0" descr="images/er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0584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7张核心表详解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972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t_merchant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商家表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10972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商家入驻·评分管理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5544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1600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t_product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菜品表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1600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价格·库存·防超卖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05740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10312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t_customer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用户表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03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学生·钱包余额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56032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" y="26060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t_pickup_point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寄存点表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26060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容量·饱和度监控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063240"/>
            <a:ext cx="8503920" cy="438912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31089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t_order 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01168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订单表（核心）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108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</a:rPr>
              <a:t>六态状态机·金额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5661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2920" y="36118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t_rider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1168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骑手表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6118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干线/楼栋两类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40690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2920" y="41148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t_order_tracking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01168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追踪表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74720" y="41148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全链路状态日志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1520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~30000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两段式六态状态机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从下单到送达 · 全链路可追溯 · t_order_tracking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订单六态 — 完整状态流转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344168" cy="1097280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8288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已下单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673352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73352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HUB_ASSIGNED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干线指派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07792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163824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63824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PICKED_UP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已取件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98264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654296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54296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AT_PICKUP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到寄存点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8736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4768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44768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DORM_ASSIGNED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楼栋指派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79208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635240" y="1097280"/>
            <a:ext cx="1344168" cy="109728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3524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已送达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2423160"/>
            <a:ext cx="342900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468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94760" y="242316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0" y="2468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①用户下单(sp_create_order)→PENDING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3558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②指派干线骑手(sp_assign_hub_rider)→HUB_ASSIGNED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6484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③骑手商家取件→PICKED_UP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9410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④送达寄存点(sp_deliver_to_pickup)·扣减余位·FOR UPDATE→AT_PICKUP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⑤指派楼栋骑手(sp_assign_dorm_rider)→DORM_ASSIGNED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⑥学生确认收货→DELIVERED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第一段配送：干线骑手 · 商家→寄存点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1. 用户下单→系统创建订单(sp_create_order)·事务包裹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系统指派干线骑手(sp_assign_hub_rider)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3. 骑手到商家取件→状态变为PICKED_UP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4. 送达寄存点(sp_deliver_to_pickup)→扣减余位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干线骑手不进入宿舍楼栋，不受门禁限制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跨区域批量运输，8名干线骑手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FOR UPDATE行级锁防止寄存点余位超卖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事务回滚：库存+余位+状态变更 原子性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每次状态变更写入t_order_tracking日志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第二段配送：楼栋骑手 · 寄存点→宿舍楼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1. 订单到达寄存点·状态=AT_PICKUP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系统指派楼栋骑手(sp_assign_dorm_rider)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3. 楼栋骑手从寄存点取件→配送至宿舍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4. 学生确认收货→DELIVERED→订单完成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楼栋骑手为校内人员，不受门禁限制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熟悉宿舍分布，末端配送时间缩短40%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仅AT_PICKUP状态可转入此阶段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7名楼栋骑手各负责1-2栋宿舍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记录送达时间·签收确认→追踪日志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核心技术亮点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FOR UPDATE 行级锁 · 事务回滚 · RANK() OVER · AI Text-to-SQL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UPDATE 行级锁 — 并发防超卖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问题：并发超卖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线程A读取available_slots=5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线程B也读取available_slots=5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→两人都以为有5个空位→同时下单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→寄存器容量不够，超卖！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解决：SELECT...FOR UPDATE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事务内锁定目标行→串行化读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事务B必须等待A提交后才能读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→读到最新值→绝对不超卖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配合ROLLBACK：异常自动回滚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8595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MySQL实测验证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</a:rPr>
              <a:t>Session A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BEGIN→FOR UPDATE→读到5→扣为4→COMMIT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Session B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BEGIN→FOR UPDATE→阻塞等待→A提交后读到4→COMMIT
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✓ 结论：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两事务串行化执行，库存值一致，无超卖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事务回滚 · 四大存储过程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sp_create_order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创建订单+扣减库存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库存/余额不足→ROLLBACK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sp_assign_hub_rider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指派干线骑手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骑手不可用→ROLLBACK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sp_deliver_to_pickup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送达寄存点+扣余位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余位不足→ROLLBACK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sp_assign_dorm_rider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指派楼栋骑手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仅AT_PICKUP可进入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43891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 EXIT HANDLER FOR SQLEXCEPTION  BEGIN  ROLLBACK;  SIGNAL ...;  END;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RANK() OVER 窗口函数 — 数据库内排行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502920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vw_merchant_sales_rank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m.name, COUNT(*), SUM(amount),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RANK() OVER (ORDER BY SUM(amount) DESC)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t_merchant m JOIN t_order 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m.id=o.merchant_id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m.id;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97280"/>
            <a:ext cx="32918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234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一行SQL搞定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16459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商家营收排名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骑手绩效排行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每日运营汇总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数据库内核计算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无需应用层排序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274320" y="3154680"/>
          <a:ext cx="393192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480560" y="3154680"/>
            <a:ext cx="43891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63440" y="3246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 vs 窗口函数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63440" y="361188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传统：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SELECT→应用排序→编号 O(nlogn)
</a:t>
            </a:r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</a:rPr>
              <a:t>窗口函数：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数据库一次性扫描计算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Text-to-SQL — 自然语言查数据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生成SQL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0332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安全校验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4068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执行查询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7804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可视化返回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40280"/>
            <a:ext cx="26974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①白名单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只允许SELECT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拒绝DML/DDL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2240280"/>
            <a:ext cx="269748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②正则过滤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拦截DROP TABLE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TRUNCATE·DELETE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26480" y="2240280"/>
            <a:ext cx="269748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③只读账户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AI使用只读DB连接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权限最小化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566160"/>
            <a:ext cx="85953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"最近7天各商家的订单量和营收？" → SELECT m.name, COUNT(*), SUM(amount)... GROUP BY m.id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数据压测与大屏展示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5000条仿真数据 · 爆仓预警 · ECharts实时监控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仿真数据生成策略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订单总数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骑手(8干线+7楼栋)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6364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校内寄存点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0292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商家×4菜品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4612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状态全覆盖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6364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6364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零库存测试品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3520440"/>
            <a:ext cx="841248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生成工具：Python Faker库→随机中文姓名·地址·菜品名·时间戳→INSERT批量写入MySQL→覆盖全部6种状态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5000条数据 — 压测结果分析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23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82880" y="1051560"/>
          <a:ext cx="4389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05156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压测关键指标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总订单  5,000条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19842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完成率  96.8%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0" y="23225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平均时长  23分钟/单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26609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爆仓预警  2个点达88%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2999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并发验证  FOR UPDATE通过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数据生成  Python Faker</a:t>
            </a:r>
            <a:endParaRPr lang="en-US" sz="11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274320" y="4023360"/>
          <a:ext cx="859536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爆仓预警机制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10B981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&lt;80%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234440"/>
            <a:ext cx="548640" cy="548640"/>
          </a:xfrm>
          <a:prstGeom prst="ellipse">
            <a:avLst/>
          </a:prstGeom>
          <a:solidFill>
            <a:srgbClr val="F59E0B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橙色预警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80%-95%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234440"/>
            <a:ext cx="548640" cy="548640"/>
          </a:xfrm>
          <a:prstGeom prst="ellipse">
            <a:avLst/>
          </a:prstGeom>
          <a:solidFill>
            <a:srgbClr val="EF4444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红色告警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&gt;95%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331720"/>
            <a:ext cx="841248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3957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实测：寄存点#3占用88%、#7达85%→触发橙色预警→大屏实时告警→提示调度员增派人手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自动分流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占满的寄存点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暂停派单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56032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269748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增员通知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9748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推送至调度员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触发人工介入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临时扩容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申请临时堆放区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扩大接收能力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4944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/>
          <p:nvPr/>
        </p:nvSpPr>
        <p:spPr>
          <a:xfrm>
            <a:off x="708660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动态阈值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根据时段自动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调整预警水位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数据看板总览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25</a:t>
            </a:r>
            <a:endParaRPr lang="en-US" sz="800" dirty="0"/>
          </a:p>
        </p:txBody>
      </p:sp>
      <p:pic>
        <p:nvPicPr>
          <p:cNvPr id="5" name="Image 0" descr="images/screenshots/01_dashboard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9144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订单管理与寄存点监控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26</a:t>
            </a:r>
            <a:endParaRPr lang="en-US" sz="800" dirty="0"/>
          </a:p>
        </p:txBody>
      </p:sp>
      <p:pic>
        <p:nvPicPr>
          <p:cNvPr id="5" name="Image 0" descr="images/screenshots/02_order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4480560" cy="4206240"/>
          </a:xfrm>
          <a:prstGeom prst="rect">
            <a:avLst/>
          </a:prstGeom>
        </p:spPr>
      </p:pic>
      <p:pic>
        <p:nvPicPr>
          <p:cNvPr id="6" name="Image 1" descr="images/screenshots/03_pickup_poi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14400"/>
            <a:ext cx="44805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KPI指标卡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27</a:t>
            </a:r>
            <a:endParaRPr lang="en-US" sz="800" dirty="0"/>
          </a:p>
        </p:txBody>
      </p:sp>
      <p:pic>
        <p:nvPicPr>
          <p:cNvPr id="5" name="Image 0" descr="images/screenshots/06_kpi_car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8229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实时KPI：今日订单·总收入·活跃骑手·寄存点饱和度·完成率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大屏功能清单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◆ 订单分布饼图  ◆ 商家排行柱状图  ◆ 寄存点饱和度仪表盘  ◆ 骑手绩效对比  ◆ AI自然语言查询面板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创新总结与展望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七大创新点 · 项目成果 · 未来路线图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七大创新点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247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①两段式六态模型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0" y="11247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校园外卖配送标准化状态机，行业首创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81912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6550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②FOR UPDATE并发控制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165506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寄存点余位防超卖，MySQL实测验证通过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112264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21854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③AI Text-to-SQL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218541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自然语言查数据，DeepSeek+三层防线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642616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27157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④HANDLER+ROLLBACK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271576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存储过程事务化，ACID原子性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246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⑤RANK() OVER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3246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窗口函数排行，单次扫描出结果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703320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" y="37764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⑥5000条仿真压测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377647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Faker覆盖+爆仓预警验证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233672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430682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⑦全链路状态追踪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30682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t_order_tracking每步可追溯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项目交付成果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MySQL数据库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7表·3NF·4存储过程·3视图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430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 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RESTful·localhost:5000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ECharts大屏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12种图表·实时刷新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AI智能查询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DeepSeek·三层防线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9718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338328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仿真测试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5000条·全状态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完整文档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6364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报告·PPT·ER图·注释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关键技术难点与突破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并发超卖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库存/余位被多线程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同时读取致超卖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12801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109728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0440" y="109728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3749040" y="1234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FOR UPDATE行锁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SELECT加排他锁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05740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05740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130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数据一致性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下单多步任一失败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即产生脏数据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08960" y="224028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520440" y="205740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20440" y="205740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3749040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存储过程事务化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HANDLER+ROLLBACK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01752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1752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0906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SQL安全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AI生成SQL可能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含危险操作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3200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1752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520440" y="301752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3749040" y="3154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白名单+正则过滤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+只读账户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97764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97764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0507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测试数据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空库无法验证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真实负载能力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41605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520440" y="397764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520440" y="397764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4"/>
          <p:cNvSpPr/>
          <p:nvPr/>
        </p:nvSpPr>
        <p:spPr>
          <a:xfrm>
            <a:off x="3749040" y="41148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Faker批量5000条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全状态分布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未来展望与演进路线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Redis缓存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缓存热数据·降低DB压力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应对高峰流量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1430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SSO统一认证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对接校园统一认证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实名下单·自动关联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114300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微信小程序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2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骑手端扫码取件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状态实时回传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143000"/>
            <a:ext cx="1965960" cy="457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AI路径规划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基于历史数据的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最优配送路径推荐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38328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已完成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237744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Redis+SSO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小程序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4944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AI路径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D9488"/>
                </a:solidFill>
              </a:rPr>
              <a:t>基于数智化转型的校园外卖两段式配送数据库系统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0" y="3291840"/>
            <a:ext cx="1828800" cy="274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数据库系统课程项目 | 2026年5月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校园外卖两段式配送数据库系统 — 答辩汇报</dc:title>
  <dc:subject>PptxGenJS Presentation</dc:subject>
  <dc:creator>Campus Delivery Team</dc:creator>
  <cp:lastModifiedBy>Campus Delivery Team</cp:lastModifiedBy>
  <cp:revision>1</cp:revision>
  <dcterms:created xsi:type="dcterms:W3CDTF">2026-05-30T08:48:28Z</dcterms:created>
  <dcterms:modified xsi:type="dcterms:W3CDTF">2026-05-30T08:48:28Z</dcterms:modified>
</cp:coreProperties>
</file>