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AACCFF"/>
                </a:solidFill>
                <a:latin typeface="微软雅黑"/>
              </a:defRPr>
            </a:pPr>
            <a:r>
              <a:t>数据库课程设计 · 答辩汇报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校园外卖</a:t>
            </a:r>
            <a:br/>
            <a:r>
              <a:t>两段式配送</a:t>
            </a:r>
            <a:br/>
            <a:r>
              <a:t>数据库系统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ACCFF"/>
                </a:solidFill>
                <a:latin typeface="微软雅黑"/>
              </a:defRPr>
            </a:pPr>
            <a:r>
              <a:t>Campus Delivery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6909C"/>
                </a:solidFill>
                <a:latin typeface="微软雅黑"/>
              </a:defRPr>
            </a:pPr>
            <a:r>
              <a:t>MySQL 8.0 | Flask | ECharts | DeepSeek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291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7 表 · 严格 3NF  ·  4 索引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7 触发器 · FOR UPDATE 行级锁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4 存储过程 · ACID 事务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2 视图 · RANK() OVER 窗口函数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AI Text-to-SQL 自然语言查询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6909C"/>
                </a:solidFill>
                <a:latin typeface="微软雅黑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5D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D2129"/>
                </a:solidFill>
                <a:latin typeface="微软雅黑"/>
              </a:defRPr>
            </a:pPr>
            <a:r>
              <a:t>项目背景与需求分析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800" b="0">
                <a:solidFill>
                  <a:srgbClr val="86909C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5D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D2129"/>
                </a:solidFill>
                <a:latin typeface="微软雅黑"/>
              </a:defRPr>
            </a:pPr>
            <a:r>
              <a:t>系统设计：架构 · ER图 · 7表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800" b="0">
                <a:solidFill>
                  <a:srgbClr val="86909C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5D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D2129"/>
                </a:solidFill>
                <a:latin typeface="微软雅黑"/>
              </a:defRPr>
            </a:pPr>
            <a:r>
              <a:t>索引策略与性能优化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800" b="0">
                <a:solidFill>
                  <a:srgbClr val="86909C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918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5D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918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D2129"/>
                </a:solidFill>
                <a:latin typeface="微软雅黑"/>
              </a:defRPr>
            </a:pPr>
            <a:r>
              <a:t>七重触发器防护盾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2918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800" b="0">
                <a:solidFill>
                  <a:srgbClr val="86909C"/>
                </a:solidFill>
                <a:latin typeface="微软雅黑"/>
              </a:defRPr>
            </a:pPr>
            <a: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5D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D2129"/>
                </a:solidFill>
                <a:latin typeface="微软雅黑"/>
              </a:defRPr>
            </a:pPr>
            <a:r>
              <a:t>存储过程与事务管理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800" b="0">
                <a:solidFill>
                  <a:srgbClr val="86909C"/>
                </a:solidFill>
                <a:latin typeface="微软雅黑"/>
              </a:defRPr>
            </a:pPr>
            <a: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5D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D2129"/>
                </a:solidFill>
                <a:latin typeface="微软雅黑"/>
              </a:defRPr>
            </a:pPr>
            <a:r>
              <a:t>视图 · 窗口函数 ·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800" b="0">
                <a:solidFill>
                  <a:srgbClr val="86909C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120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5D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2120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D2129"/>
                </a:solidFill>
                <a:latin typeface="微软雅黑"/>
              </a:defRPr>
            </a:pPr>
            <a:r>
              <a:t>系统大屏与可视化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52120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800" b="0">
                <a:solidFill>
                  <a:srgbClr val="86909C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8521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5DFF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8521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1D2129"/>
                </a:solidFill>
                <a:latin typeface="微软雅黑"/>
              </a:defRPr>
            </a:pPr>
            <a:r>
              <a:t>创新总结与成果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58521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800" b="0">
                <a:solidFill>
                  <a:srgbClr val="86909C"/>
                </a:solidFill>
                <a:latin typeface="微软雅黑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65D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129"/>
                </a:solidFill>
                <a:latin typeface="微软雅黑"/>
              </a:defRPr>
            </a:pPr>
            <a:r>
              <a:t>项目背景与需求分析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909C"/>
                </a:solidFill>
                <a:latin typeface="微软雅黑"/>
              </a:defRPr>
            </a:pPr>
            <a:r>
              <a:t>校园外卖市场 · 传统痛点 · 两段式配送模型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市场与痛点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65DFF"/>
                </a:solidFill>
                <a:latin typeface="微软雅黑"/>
              </a:defRPr>
            </a:pPr>
            <a:r>
              <a:t>4,500亿+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6909C"/>
                </a:solidFill>
                <a:latin typeface="微软雅黑"/>
              </a:defRPr>
            </a:pPr>
            <a:r>
              <a:t>中国外卖市场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291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00B42A"/>
                </a:solidFill>
                <a:latin typeface="微软雅黑"/>
              </a:defRPr>
            </a:pPr>
            <a:r>
              <a:t>70%+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6909C"/>
                </a:solidFill>
                <a:latin typeface="微软雅黑"/>
              </a:defRPr>
            </a:pPr>
            <a:r>
              <a:t>高校外卖渗透率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291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7D00"/>
                </a:solidFill>
                <a:latin typeface="微软雅黑"/>
              </a:defRPr>
            </a:pPr>
            <a:r>
              <a:t>120万单/日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6909C"/>
                </a:solidFill>
                <a:latin typeface="微软雅黑"/>
              </a:defRPr>
            </a:pPr>
            <a:r>
              <a:t>头部高校日均外卖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D2129"/>
                </a:solidFill>
                <a:latin typeface="微软雅黑"/>
              </a:defRPr>
            </a:pPr>
            <a:r>
              <a:t>传统校园外卖三大痛点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53F3F"/>
                </a:solidFill>
                <a:latin typeface="微软雅黑"/>
              </a:defRPr>
            </a:pPr>
            <a:r>
              <a:t>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129"/>
                </a:solidFill>
                <a:latin typeface="微软雅黑"/>
              </a:defRPr>
            </a:pPr>
            <a:r>
              <a:t>校门禁入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6909C"/>
                </a:solidFill>
                <a:latin typeface="微软雅黑"/>
              </a:defRPr>
            </a:pPr>
            <a:r>
              <a:t>校外骑手不能进宿舍区，学生需步行数百米取餐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53F3F"/>
                </a:solidFill>
                <a:latin typeface="微软雅黑"/>
              </a:defRPr>
            </a:pPr>
            <a:r>
              <a:t>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129"/>
                </a:solidFill>
                <a:latin typeface="微软雅黑"/>
              </a:defRPr>
            </a:pPr>
            <a:r>
              <a:t>高峰拥堵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6909C"/>
                </a:solidFill>
                <a:latin typeface="微软雅黑"/>
              </a:defRPr>
            </a:pPr>
            <a:r>
              <a:t>30+ 骑手同时在校门口等候，场面混乱，配送时效无法保证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53F3F"/>
                </a:solidFill>
                <a:latin typeface="微软雅黑"/>
              </a:defRPr>
            </a:pPr>
            <a:r>
              <a:t>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129"/>
                </a:solidFill>
                <a:latin typeface="微软雅黑"/>
              </a:defRPr>
            </a:pPr>
            <a:r>
              <a:t>丢失错拿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6909C"/>
                </a:solidFill>
                <a:latin typeface="微软雅黑"/>
              </a:defRPr>
            </a:pPr>
            <a:r>
              <a:t>外卖堆放地上，无管理无追溯，日均丢失率 3%-5%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两段式配送模型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一条配送链拆成两段，宿舍楼寄存柜作为中转枢纽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647" y="2103120"/>
            <a:ext cx="1828800" cy="1188720"/>
          </a:xfrm>
          <a:prstGeom prst="round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商家</a:t>
            </a:r>
            <a:br/>
            <a:r>
              <a:t>Merchant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86909C"/>
                </a:solidFill>
                <a:latin typeface="微软雅黑"/>
              </a:defRPr>
            </a:pPr>
            <a:r>
              <a:t>出餐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447" y="2423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165D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4047" y="2103120"/>
            <a:ext cx="1828800" cy="1188720"/>
          </a:xfrm>
          <a:prstGeom prst="roundRect">
            <a:avLst/>
          </a:prstGeom>
          <a:solidFill>
            <a:srgbClr val="4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干线骑手</a:t>
            </a:r>
            <a:br/>
            <a:r>
              <a:t>Stage1_Trunk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047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86909C"/>
                </a:solidFill>
                <a:latin typeface="微软雅黑"/>
              </a:defRPr>
            </a:pPr>
            <a:r>
              <a:t>取餐配送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47" y="2423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165D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447" y="2103120"/>
            <a:ext cx="1828800" cy="1188720"/>
          </a:xfrm>
          <a:prstGeom prst="roundRect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寄存柜</a:t>
            </a:r>
            <a:br/>
            <a:r>
              <a:t>Pickup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447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86909C"/>
                </a:solidFill>
                <a:latin typeface="微软雅黑"/>
              </a:defRPr>
            </a:pPr>
            <a:r>
              <a:t>包裹入库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247" y="2423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165D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8847" y="2103120"/>
            <a:ext cx="1828800" cy="1188720"/>
          </a:xfrm>
          <a:prstGeom prst="round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楼栋骑手</a:t>
            </a:r>
            <a:br/>
            <a:r>
              <a:t>Stage2_Floor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47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86909C"/>
                </a:solidFill>
                <a:latin typeface="微软雅黑"/>
              </a:defRPr>
            </a:pPr>
            <a:r>
              <a:t>最后100米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7647" y="2423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165D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6247" y="2103120"/>
            <a:ext cx="1828800" cy="1188720"/>
          </a:xfrm>
          <a:prstGeom prst="roundRect">
            <a:avLst/>
          </a:prstGeom>
          <a:solidFill>
            <a:srgbClr val="F5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学生</a:t>
            </a:r>
            <a:br/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247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86909C"/>
                </a:solidFill>
                <a:latin typeface="微软雅黑"/>
              </a:defRPr>
            </a:pPr>
            <a:r>
              <a:t>签收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✔  校外骑手不进入宿舍区 — 安全保障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✔  寄存柜物理硬约束 chk_capacity — 80格绝不81包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✔  两段骑手独立管理 — 干线 8 人 + 楼栋 7 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✔  全链路 TIMESTAMP 审计 — 下单 &gt; 入柜 &gt; 签收精确追踪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六态订单状态机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487" y="2011680"/>
            <a:ext cx="1920240" cy="1280160"/>
          </a:xfrm>
          <a:prstGeom prst="round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Paid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87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6909C"/>
                </a:solidFill>
                <a:latin typeface="微软雅黑"/>
              </a:defRPr>
            </a:pPr>
            <a:r>
              <a:t>已支付</a:t>
            </a:r>
            <a:br/>
            <a:r>
              <a:t>待指派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9727" y="23774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165D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32607" y="2011680"/>
            <a:ext cx="1920240" cy="1280160"/>
          </a:xfrm>
          <a:prstGeom prst="roundRect">
            <a:avLst/>
          </a:prstGeom>
          <a:solidFill>
            <a:srgbClr val="4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Stage1</a:t>
            </a:r>
            <a:br/>
            <a:r>
              <a:t>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2607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6909C"/>
                </a:solidFill>
                <a:latin typeface="微软雅黑"/>
              </a:defRPr>
            </a:pPr>
            <a:r>
              <a:t>干线骑手</a:t>
            </a:r>
            <a:br/>
            <a:r>
              <a:t>已接单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847" y="23774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165D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5727" y="2011680"/>
            <a:ext cx="1920240" cy="1280160"/>
          </a:xfrm>
          <a:prstGeom prst="roundRect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Arrived</a:t>
            </a:r>
            <a:br/>
            <a:r>
              <a:t>At_Point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727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6909C"/>
                </a:solidFill>
                <a:latin typeface="微软雅黑"/>
              </a:defRPr>
            </a:pPr>
            <a:r>
              <a:t>已送达</a:t>
            </a:r>
            <a:br/>
            <a:r>
              <a:t>寄存柜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5967" y="23774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165D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8847" y="2011680"/>
            <a:ext cx="1920240" cy="1280160"/>
          </a:xfrm>
          <a:prstGeom prst="round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Stage2</a:t>
            </a:r>
            <a:br/>
            <a:r>
              <a:t>Assigned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47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6909C"/>
                </a:solidFill>
                <a:latin typeface="微软雅黑"/>
              </a:defRPr>
            </a:pPr>
            <a:r>
              <a:t>楼栋骑手</a:t>
            </a:r>
            <a:br/>
            <a:r>
              <a:t>已接单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087" y="23774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165DFF"/>
                </a:solidFill>
                <a:latin typeface="微软雅黑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1967" y="2011680"/>
            <a:ext cx="1920240" cy="12801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1967" y="3429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6909C"/>
                </a:solidFill>
                <a:latin typeface="微软雅黑"/>
              </a:defRPr>
            </a:pPr>
            <a:r>
              <a:t>已完成</a:t>
            </a:r>
            <a:br/>
            <a:r>
              <a:t>签收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53F3F"/>
                </a:solidFill>
                <a:latin typeface="微软雅黑"/>
              </a:defRPr>
            </a:pPr>
            <a:r>
              <a:t>▼  任意非终态可转入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663440"/>
            <a:ext cx="1920240" cy="914400"/>
          </a:xfrm>
          <a:prstGeom prst="roundRect">
            <a:avLst/>
          </a:prstGeom>
          <a:solidFill>
            <a:srgbClr val="F5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Cancelled</a:t>
            </a:r>
            <a:br/>
            <a:r>
              <a:t>已取消退款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6909C"/>
                </a:solidFill>
                <a:latin typeface="微软雅黑"/>
              </a:defRPr>
            </a:pPr>
            <a:r>
              <a:t>3 个 TIMESTAMP 精准审计：created_at → stage1_completed_at → stage2_completed_at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65D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129"/>
                </a:solidFill>
                <a:latin typeface="微软雅黑"/>
              </a:defRPr>
            </a:pPr>
            <a:r>
              <a:t>系统设计与数据库架构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909C"/>
                </a:solidFill>
                <a:latin typeface="微软雅黑"/>
              </a:defRPr>
            </a:pPr>
            <a:r>
              <a:t>三层架构 · 技术栈 · ER 图 · 7 表 3NF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系统三层架构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011680" cy="118872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展现层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45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129"/>
                </a:solidFill>
                <a:latin typeface="微软雅黑"/>
              </a:defRPr>
            </a:pPr>
            <a:r>
              <a:t>Flask + ECharts 实时大屏  ·  3 个 Tab  ·  30 秒自动刷新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0515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2011680" cy="1188720"/>
          </a:xfrm>
          <a:prstGeom prst="rect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业务层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129"/>
                </a:solidFill>
                <a:latin typeface="微软雅黑"/>
              </a:defRPr>
            </a:pPr>
            <a:r>
              <a:t>Python Flask REST API  ·  4 存储过程  ·  AI Text-to-SQL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80560"/>
            <a:ext cx="10515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2011680" cy="118872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54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129"/>
                </a:solidFill>
                <a:latin typeface="微软雅黑"/>
              </a:defRPr>
            </a:pPr>
            <a:r>
              <a:t>MySQL 8.0 InnoDB  ·  7 表 4 索引 7 触发器 2 视图  ·  FOR UPDATE 行级锁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148840" cy="4572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MySQL 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InnoDB 引擎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FOR UPDATE 行级锁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RANK() OVER 窗口函数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37160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371600"/>
            <a:ext cx="2148840" cy="45720"/>
          </a:xfrm>
          <a:prstGeom prst="rect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4813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Python 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874519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REST API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PyMySQL 原生 SQL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DeepSeek AI 集成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137160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59" y="1371600"/>
            <a:ext cx="2148840" cy="4572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813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7D00"/>
                </a:solidFill>
                <a:latin typeface="微软雅黑"/>
              </a:defRPr>
            </a:pPr>
            <a:r>
              <a:t>ECharts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874519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3 个功能 Tab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饼图 + 柱状图 + 表格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30 秒自动刷新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37160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79" y="1371600"/>
            <a:ext cx="2148840" cy="45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4813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7B1FA2"/>
                </a:solidFill>
                <a:latin typeface="微软雅黑"/>
              </a:defRPr>
            </a:pPr>
            <a:r>
              <a:t>DeepSeek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1874519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Text-to-SQL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Schema 注入提示词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仅允许 SELECT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371600"/>
            <a:ext cx="214884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4813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9688"/>
                </a:solidFill>
                <a:latin typeface="微软雅黑"/>
              </a:defRPr>
            </a:pPr>
            <a:r>
              <a:t>Cloudflare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874519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Tunnel 公网隧道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HTTPS 加密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扫码即访问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129"/>
                </a:solidFill>
                <a:latin typeface="微软雅黑"/>
              </a:defRPr>
            </a:pPr>
            <a:r>
              <a:t>数据库核心技术栈：7 表(3NF) · 4 B-Tree 索引(含 2 复合索引) · 7 触发器(FOR UPDATE + SIGNAL) · 4 存储过程(ACID 事务) · 2 分析视图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数据库 E-R 图 —— 7 张核心表 · 严格 3NF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10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90832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6909C"/>
                </a:solidFill>
                <a:latin typeface="微软雅黑"/>
              </a:defRPr>
            </a:pPr>
            <a:r>
              <a:t>✔ 严格 3NF 无冗余    ✔ 5 个外键级联约束    ✔ 12 个 CHECK 约束    ✔ ENUM 类型限死合法值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7 张核心表概览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表名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中文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关键约束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 心 作 用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学生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balance&gt;=0, phone UNIQUE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校园卡钱包 + 宿舍地址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merchants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商家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rating 1~5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档口信息 + 评分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dishes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菜品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stock&gt;=0, status 0/1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库存管理 + 上下架控制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pickup_points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寄存点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chk_capacity: current&lt;=capacity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物理容积硬约束，80格绝不81包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riders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骑手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ENUM rider_type + status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Stage1_Trunk/Stage2_Floor 分工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订单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6态ENUM, 5FK, 双骑手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六态状态机 + 全链路时间审计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order_items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明细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quantity&gt;0, FK CASCADE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订单-菜品关联，触发库存扣减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86909C"/>
                </a:solidFill>
                <a:latin typeface="微软雅黑"/>
              </a:defRPr>
            </a:pPr>
            <a:r>
              <a:t>严格 3NF：所有非主属性完全函数依赖于主键，无传递依赖，无冗余。5 个外键保证引用完整，12 个 CHECK 约束在数据库层强制执行业务规则。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关键表：pickup_points —— 物理容积硬约束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32004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484632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CREATE TABLE pickup_points (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point_id    INT PRIMARY KEY AUTO_INCREMENT,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point_name  VARCHAR(50) NOT NULL,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location    VARCHAR(200) NOT NULL,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capacity         INT NOT NULL,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current_packages INT DEFAULT 0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  CHECK (current_packages &gt;= 0),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-- ★ 核心约束：物理容积绝不可超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CONSTRAINT chk_capacity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  CHECK (current_packages &lt;= capacity)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5DFF"/>
                </a:solidFill>
                <a:latin typeface="微软雅黑"/>
              </a:defRPr>
            </a:pPr>
            <a:r>
              <a:t>为什么这样设计？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物理柜子只有 80 个格子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第 81 个包裹物理上塞不进去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数据库必须阻止写入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CHECK 约束在 MySQL 引擎层执行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任何 UPDATE current_packages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   如果超过 capacity 立即拒绝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应用层没有机会犯错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12 个寄存点，容量 50~120 格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current_packages 由存储过程</a:t>
            </a:r>
          </a:p>
          <a:p>
            <a:pPr>
              <a:spcAft>
                <a:spcPts val="8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维护 (+1入库/-1出库)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核心表：orders —— 六态状态机 + 双骑手 + 三时间戳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00" cy="41148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94360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CREATE TABLE orders (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order_id     INT PRIMARY KEY AUTO_INCREMENT,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-- ★ 六态状态机（ENUM 限死合法值）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order_status ENUM('Paid',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'Stage1_Assigned', 'Arrived_At_Point',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'Stage2_Assigned','Completed','Cancelled'),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-- 双骑手独立绑定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stage1_rider_id INT,  -- FK → riders（干线）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stage2_rider_id INT,  -- FK → riders（楼栋）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-- 全链路时间审计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created_at          TIMESTAMP,  -- 下单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stage1_completed_at TIMESTAMP,  -- 入柜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stage2_completed_at TIMESTAMP,  -- 签收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-- 5 个外键 + 12 个 CHECK 约束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六态流转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Paid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Stage1_Assigned（干线接单）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Arrived_At_Point（包裹入柜）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Stage2_Assigned（楼栋接单）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Completed（签收）</a:t>
            </a: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← 任意非终态可取消 → Cancelled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389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00B42A"/>
                </a:solidFill>
                <a:latin typeface="微软雅黑"/>
              </a:defRPr>
            </a:pPr>
            <a:r>
              <a:t>设计亮点</a:t>
            </a:r>
            <a:br/>
            <a:r>
              <a:t>✔ ENUM 限死 6 种合法状态</a:t>
            </a:r>
            <a:br/>
            <a:r>
              <a:t>✔ 双骑手独立追踪两段进度</a:t>
            </a:r>
            <a:br/>
            <a:r>
              <a:t>✔ 3 个 TIMESTAMP 精确审计</a:t>
            </a:r>
            <a:br/>
            <a:r>
              <a:t>✔ 5 个 FK 保证引用完整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状态机 + 骑手联动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32004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触发方式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骑手状态联动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Paid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已支付，待指派干线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sp_create_order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Stage1_Assigned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干线骑手取餐中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指派 stage1_rider_id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干线 → Delivering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Arrived_At_Point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包裹已入寄存柜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sp_arrive_at_pickup_point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干线 → Idle（释放）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Stage2_Assigned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楼栋骑手配送中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指派 stage2_rider_id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楼栋 → Delivering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学生签收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sp_stage2_deliver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楼栋 → Idle（释放）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已取消退款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sp_cancel_order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所有骑手 → Idle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核心价值：订单状态一变更 → 触发器自动联动骑手状态 → 应用层零代码维护骑手状态 —— 这是触发器最经典的用武之地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关键表：riders —— 两段式特种骑手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2860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484632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CREATE TABLE riders (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rider_id   INT PRIMARY KEY AUTO_INCREMENT,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rider_type ENUM('Stage1_Trunk',  -- 干线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               'Stage2_Floor')  -- 楼栋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  NOT NULL,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status     ENUM('Idle',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               'Delivering',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               'Offline')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  DEFAULT 'Idle',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5DFF"/>
                </a:solidFill>
                <a:latin typeface="微软雅黑"/>
              </a:defRPr>
            </a:pPr>
            <a:r>
              <a:t>设计要点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ENUM 在数据库层强制分工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Stage1_Trunk 只能做干线配送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Stage2_Floor 只能做楼栋配送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应用层写错会被触发器拦截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status 由触发器自动管理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指派 → Delivering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完成/取消 → Idle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应用层永远不需要手动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   UPDATE riders SET status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8 干线 + 7 楼栋 = 15 骑手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65D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129"/>
                </a:solidFill>
                <a:latin typeface="微软雅黑"/>
              </a:defRPr>
            </a:pPr>
            <a:r>
              <a:t>索引策略与性能优化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909C"/>
                </a:solidFill>
                <a:latin typeface="微软雅黑"/>
              </a:defRPr>
            </a:pPr>
            <a:r>
              <a:t>4 个 B-Tree 索引 · 复合索引覆盖查询 · 视图加速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4 个 B-Tree 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2560320"/>
                <a:gridCol w="50292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索引名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表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加 速 场 景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idx_orders_status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order_status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大屏按状态筛选（最高频）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idx_orders_created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今日/近7天/近30天查询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idx_dishes_merchant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dishes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merchant_id, status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前端"某商家在售菜品"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idx_orders_point_status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pickup_point_id,</a:t>
                      </a:r>
                    </a:p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容量检查 + 视图 LEFT JOIN</a:t>
                      </a:r>
                    </a:p>
                    <a:p>
                      <a:pPr algn="ctr">
                        <a:defRPr sz="13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(本次新增)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为什么新增 idx_orders_point_status？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vw_pickup_point_analytics 视图需要 JOIN orders 表按 pickup_point_id + order_status 聚合统计——没有索引时全表扫描 5000+ 行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加复合索引后 MySQL 直接用索引覆盖查询，查询从 ~50ms 降到 ~2ms —— 每次大屏刷新快 25 倍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同时加速 sp_create_order 的 SELECT...FOR UPDATE 容量预检 —— 索引定位行更快，锁持有时间更短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索引设计原则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18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高频列优先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129"/>
                </a:solidFill>
                <a:latin typeface="微软雅黑"/>
              </a:defRPr>
            </a:pPr>
            <a:r>
              <a:t>order_status 是大屏 Tab 切换的核心过滤条件，加索引后 GROUP BY 从全表扫描变为索引扫描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0B42A"/>
                </a:solidFill>
                <a:latin typeface="微软雅黑"/>
              </a:defRPr>
            </a:pPr>
            <a:r>
              <a:t>复合索引最左前缀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129"/>
                </a:solidFill>
                <a:latin typeface="微软雅黑"/>
              </a:defRPr>
            </a:pPr>
            <a:r>
              <a:t>idx_dishes_merchant(merchant_id, status) 同时加速"按商家查"和"按商家+上架状态查"两种查询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40479"/>
            <a:ext cx="457200" cy="457200"/>
          </a:xfrm>
          <a:prstGeom prst="ellipse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7D00"/>
                </a:solidFill>
                <a:latin typeface="微软雅黑"/>
              </a:defRPr>
            </a:pPr>
            <a:r>
              <a:t>覆盖查询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84047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129"/>
                </a:solidFill>
                <a:latin typeface="微软雅黑"/>
              </a:defRPr>
            </a:pPr>
            <a:r>
              <a:t>idx_orders_point_status(pickup_point_id, order_status) 覆盖了视图 LEFT JOIN 的所有列，不需要回表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7B1FA2"/>
                </a:solidFill>
                <a:latin typeface="微软雅黑"/>
              </a:defRPr>
            </a:pPr>
            <a:r>
              <a:t>FK 自动索引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D2129"/>
                </a:solidFill>
                <a:latin typeface="微软雅黑"/>
              </a:defRPr>
            </a:pPr>
            <a:r>
              <a:t>InnoDB 为外键列自动建 B-Tree 索引 — user_id, merchant_id, pickup_point_id, stage1/2_rider_id 都有索引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65D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129"/>
                </a:solidFill>
                <a:latin typeface="微软雅黑"/>
              </a:defRPr>
            </a:pPr>
            <a:r>
              <a:t>七重触发器防护盾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909C"/>
                </a:solidFill>
                <a:latin typeface="微软雅黑"/>
              </a:defRPr>
            </a:pPr>
            <a:r>
              <a:t>FOR UPDATE 行级锁 · 库存防超卖 · 骑手类型约束 · 状态管理 · 容量预检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FOR UPDATE 行级锁：为什么需要它？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53F3F"/>
                </a:solidFill>
                <a:latin typeface="微软雅黑"/>
              </a:defRPr>
            </a:pPr>
            <a:r>
              <a:t>✖ 传统做法：SELECT + 判断 + UPDATE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029200" cy="18288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457200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-- 线程 A               -- 线程 B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SELECT stock=1           SELECT stock=1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→ 判断：够！          → 判断：够！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INSERT (扣到 0)         INSERT (扣到 -1)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→ 超卖！库存变负数！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0B42A"/>
                </a:solidFill>
                <a:latin typeface="微软雅黑"/>
              </a:defRPr>
            </a:pPr>
            <a:r>
              <a:t>✔ FOR UPDATE 排他锁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38528"/>
            <a:ext cx="457200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-- 线程 A               -- 线程 B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SELECT...FOR UPDATE(X锁)  SELECT...FOR UPDATE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→ stock=1, 加锁成功      → 阻塞等待...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INSERT stock=0              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COMMIT(释放锁)              → 获锁, stock=0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                         → 库存不足!拒绝 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一句话：FOR UPDATE 把"读-判断-写"三步变成原子的一个操作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✔ 应用层 synchronized / Redis 分布式锁 / 乐观锁重试 — 都不如数据库层的 FOR UPDATE 简洁可靠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✔ 本系统在 3 个关键场景使用：触发器 1（验库存）+ 触发器 7（验容量）+ sp_create_order（下单容量预检）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触发器 1：库存防超卖检查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943600" cy="32004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48640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CREATE TRIGGER trg_check_dish_stock_before_order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BEFORE INSERT ON order_items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FOR EACH ROW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BEGIN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-- ★ FOR UPDATE 锁定菜品行（排他锁）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SELECT stock, status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INTO v_stock, v_status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FROM dishes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WHERE dish_id = NEW.dish_id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FOR UPDATE;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-- 检查 1：是否已下架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IF v_status = 0 THEN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  SIGNAL '45000' SET MESSAGE_TEXT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    = '商品已下架！';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END IF;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-- 检查 2：库存是否充足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IF v_stock &lt; NEW.quantity THEN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  SIGNAL '45000' SET MESSAGE_TEXT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    = '库存不足！';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END IF;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5DFF"/>
                </a:solidFill>
                <a:latin typeface="微软雅黑"/>
              </a:defRPr>
            </a:pPr>
            <a:r>
              <a:t>解决了什么问题？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✔ 并发超卖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两个学生同时买最后一份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第二个事务被阻塞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等第一个提交后读到 stock=0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正确拒绝，库存绝不超卖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✔ 下架保护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已下架商品自动拦截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无需应用层判断 status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✔ 数据库层防护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即使有人绕过 Flask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直接 INSERT INTO order_items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触发器照样拦截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触发器 2：库存自动扣减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943600" cy="13716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486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CREATE TRIGGER trg_reduce_dish_stock_after_order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AFTER INSERT ON order_items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FOR EACH ROW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BEGIN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UPDATE dishes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SET stock = stock - NEW.quantity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WHERE dish_id = NEW.dish_id;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926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为什么 AFTER INSERT？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56616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✔ 只有触发器 1 通过所有校验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   （库存足 + 未下架）后才执行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✔ 触发器 1 拒绝 → 触发器 2 不触发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✔ 两个触发器在同一事务内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   保证原子性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00B42A"/>
                </a:solidFill>
                <a:latin typeface="微软雅黑"/>
              </a:defRPr>
            </a:pPr>
            <a:r>
              <a:t>BEFORE + AFTER 双触发器协同</a:t>
            </a:r>
            <a:br/>
            <a:br/>
            <a:r>
              <a:t>INSERT INTO order_items</a:t>
            </a:r>
            <a:br/>
            <a:r>
              <a:t>  ↓</a:t>
            </a:r>
            <a:br/>
            <a:r>
              <a:t>Trig 1 (BEFORE):</a:t>
            </a:r>
            <a:br/>
            <a:r>
              <a:t>  FOR UPDATE 锁行</a:t>
            </a:r>
            <a:br/>
            <a:r>
              <a:t>  → 验库存 + 验上架</a:t>
            </a:r>
            <a:br/>
            <a:r>
              <a:t>  → 不通过? SIGNAL → ROLLBACK</a:t>
            </a:r>
            <a:br/>
            <a:r>
              <a:t>  ↓ 通过</a:t>
            </a:r>
            <a:br/>
            <a:r>
              <a:t>Trig 2 (AFTER):</a:t>
            </a:r>
            <a:br/>
            <a:r>
              <a:t>  UPDATE stock = stock - qty</a:t>
            </a:r>
            <a:br/>
            <a:r>
              <a:t>  ↓</a:t>
            </a:r>
            <a:br/>
            <a:r>
              <a:t>COMMIT  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触发器 3-4：骑手类型约束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129"/>
                </a:solidFill>
                <a:latin typeface="微软雅黑"/>
              </a:defRPr>
            </a:pPr>
            <a:r>
              <a:t>问题：如果错把楼栋骑手派去商家取餐，业务全乱。ENUM + 触发器双重保护。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5669280" cy="256032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5212080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-- Trig 3: BEFORE INSERT 检查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IF NEW.stage1_rider_id IS NOT NULL THEN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IF NOT EXISTS (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SELECT 1 FROM riders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WHERE rider_id = NEW.stage1_rider_id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  AND rider_type = 'Stage1_Trunk'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) THEN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SIGNAL '干线骑手必须是Stage1_Trunk!';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END IF;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END IF;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-- 同理检查 stage2_rider_id → Stage2_Floor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-- Trig 4: BEFORE UPDATE 检查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-- 仅在骑手ID发生变化时触发（性能优化）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IF NEW.stage1_rider_id != OLD.stage1_rider_id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OR OLD.stage1_rider_id IS NULL THEN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-- 同 #3 的检查逻辑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END IF;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双重保护机制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第一层：ENUM 类型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rider_type 只有两个合法值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写入非法值直接报错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第二层：触发器校验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stage1 必须是 Stage1_Trunk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stage2 必须是 Stage2_Floor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用错了类型直接 SIGNAL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INSERT + UPDATE 全覆盖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新建订单指派骑手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已有订单更换骑手</a:t>
            </a:r>
          </a:p>
          <a:p>
            <a:pPr>
              <a:spcAft>
                <a:spcPts val="600"/>
              </a:spcAft>
              <a:defRPr sz="1600">
                <a:solidFill>
                  <a:srgbClr val="1D2129"/>
                </a:solidFill>
                <a:latin typeface="微软雅黑"/>
              </a:defRPr>
            </a:pPr>
            <a:r>
              <a:t>→ 两条路径都拦截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触发器 5-6：骑手状态自动管理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1556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7432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订单状态变化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骑手状态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谁触发的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指派干线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Paid → Stage1_Assigned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Idle → Delivering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Trig 5 (INSERT)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干线送达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Stage1_Assigned → Arrived_At_Point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Delivering → 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Trig 6 (UPDATE)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指派楼栋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Arrived_At_Point → Stage2_Assigned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Idle → Delivering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Trig 6 (UPDATE)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最终签收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Stage2_Assigned →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Delivering → 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Trig 6 (UPDATE)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订单取消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任意 → Cancelled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Delivering → Idle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Trig 6 (UPDATE)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核心代码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64608"/>
            <a:ext cx="105156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-- Trig 6 AFTER UPDATE: 状态驱动骑手释放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IF NEW.order_status = 'Arrived_At_Point' AND OLD.stage1_rider_id IS NOT NULL THEN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UPDATE riders SET status = 'Idle' WHERE rider_id = OLD.stage1_rider_id;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END IF;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IF NEW.order_status = 'Completed' AND OLD.stage2_rider_id IS NOT NULL THEN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UPDATE riders SET status = 'Idle' WHERE rider_id = OLD.stage2_rider_id;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END IF;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-- 取消 → 释放所有骑手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触发器 7（新增）：寄存点容量预检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53F3F"/>
                </a:solidFill>
                <a:latin typeface="微软雅黑"/>
              </a:defRPr>
            </a:pPr>
            <a:r>
              <a:t>之前的问题：只有 chk_capacity 硬约束 → 骑手送到了才拦截 → 骑手白跑一趟，成果被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5943600" cy="22860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548640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CREATE TRIGGER trg_check_pickup_point_capacity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BEFORE INSERT ON orders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FOR EACH ROW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BEGIN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-- ★ FOR UPDATE 锁定寄存点行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SELECT current_packages, capacity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INTO v_pt_current, v_pt_capacity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FROM pickup_points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WHERE point_id = NEW.pickup_point_id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FOR UPDATE;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IF v_pt_current &gt;= v_pt_capacity THEN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SIGNAL '45000'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  SET MESSAGE_TEXT = '寄存点已满！'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  END IF;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5DFF"/>
                </a:solidFill>
                <a:latin typeface="微软雅黑"/>
              </a:defRPr>
            </a:pPr>
            <a:r>
              <a:t>两层防护体系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737360"/>
            <a:ext cx="502920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B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✔ 第一层：下单容量预检（主动防护）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Trig 7 + sp_create_order 双保险</a:t>
            </a:r>
          </a:p>
          <a:p>
            <a:pPr>
              <a:spcAft>
                <a:spcPts val="3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FOR UPDATE 防并发容量击穿</a:t>
            </a:r>
          </a:p>
          <a:p>
            <a:pPr>
              <a:spcAft>
                <a:spcPts val="3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用户在 App 下单时就被引导分流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383280"/>
            <a:ext cx="5029200" cy="1371600"/>
          </a:xfrm>
          <a:prstGeom prst="rect">
            <a:avLst/>
          </a:prstGeom>
          <a:solidFill>
            <a:srgbClr val="FFEBEE"/>
          </a:solidFill>
          <a:ln w="25400">
            <a:solidFill>
              <a:srgbClr val="F5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53F3F"/>
                </a:solidFill>
                <a:latin typeface="微软雅黑"/>
              </a:defRPr>
            </a:pPr>
            <a:r>
              <a:t>✔ 第二层：物理硬约束（被动兜底）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931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chk_capacity CHECK(current&lt;=capacity)</a:t>
            </a:r>
          </a:p>
          <a:p>
            <a:pPr>
              <a:spcAft>
                <a:spcPts val="3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只有在极端并发绕过第一层时才触发</a:t>
            </a:r>
          </a:p>
          <a:p>
            <a:pPr>
              <a:spcAft>
                <a:spcPts val="3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最后的安全网，80格绝不81包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结论：爆仓 = 柜子满了不让选这个柜，不是不让订外卖。用户下单时就被引导到邻近有空位的寄存点。chk_capacity 降级为最后安全网。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七重触发器总览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0642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280160"/>
                <a:gridCol w="1280160"/>
                <a:gridCol w="1280160"/>
                <a:gridCol w="4572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时机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表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核心逻辑一句话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库存防超卖(检查)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INSERT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order_items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FOR UPDATE锁行 → 验库存+下架 → 拒绝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库存防超卖(扣减)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order_items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stock = stock - quantity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骑手类型校验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INSERT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stage1=Trunk, stage2=Floor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骑手类型校验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同#3，仅骑手变更时触发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骑手状态管理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INSERT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指派骑手 → Delivering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骑手状态管理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完成/取消 → Idle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容量预检 (NEW!)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INSERT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FOR UPDATE查容量 → 满则拒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86909C"/>
                </a:solidFill>
                <a:latin typeface="微软雅黑"/>
              </a:defRPr>
            </a:pPr>
            <a:r>
              <a:t>技术栈：FOR UPDATE 行级锁 | SIGNAL 异常拦截 | OLD/NEW 状态对比 | ENUM + NOT EXISTS 双重保护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触发器分类与设计哲学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651760" cy="4572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库存防线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Trig 1 + Trig 2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FOR UPDATE 锁库存 → 验 → 扣</a:t>
            </a:r>
            <a:br/>
            <a:r>
              <a:t>并发安全由数据库保证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651760" cy="45720"/>
          </a:xfrm>
          <a:prstGeom prst="rect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81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类型防线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Trig 3 + Trig 4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ENUM + 触发器双重约束</a:t>
            </a:r>
            <a:br/>
            <a:r>
              <a:t>Stage1 绝不等于 Stage2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81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7D00"/>
                </a:solidFill>
                <a:latin typeface="微软雅黑"/>
              </a:defRPr>
            </a:pPr>
            <a:r>
              <a:t>状态防线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Trig 5 + Trig 6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订单改 → 骑手自动改</a:t>
            </a:r>
            <a:br/>
            <a:r>
              <a:t>应用层零状态同步代码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3716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51760" cy="45720"/>
          </a:xfrm>
          <a:prstGeom prst="rect">
            <a:avLst/>
          </a:prstGeom>
          <a:solidFill>
            <a:srgbClr val="F5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81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53F3F"/>
                </a:solidFill>
                <a:latin typeface="微软雅黑"/>
              </a:defRPr>
            </a:pPr>
            <a:r>
              <a:t>容量防线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74519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Trig 7 (NEW)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下单前查容量 FOR UPDATE</a:t>
            </a:r>
            <a:br/>
            <a:r>
              <a:t>满则拒，骑手不会白跑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D2129"/>
                </a:solidFill>
                <a:latin typeface="微软雅黑"/>
              </a:defRPr>
            </a:pPr>
            <a:r>
              <a:t>设计哲学：数据库层全自动防护 → 即使应用层有 bug、有人绕过 Flask 直接操作 MySQL，数据完整性也不会被破坏。</a:t>
            </a:r>
            <a:br/>
            <a:r>
              <a:t>这是数据库课程的核心价值——约束写在离数据最近的地方。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FOR UPDATE 实测：并发场景验证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D2129"/>
                </a:solidFill>
                <a:latin typeface="微软雅黑"/>
              </a:defRPr>
            </a:pPr>
            <a:r>
              <a:t>同一道菜只剩 1 份，两个学生同时下单 —— 看数据库如何处理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5486400" cy="27432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502920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-- Session A（先到，获得锁）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START TRANSACTION;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SELECT stock FROM dishes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WHERE dish_id=1 FOR UPDATE;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→ stock = 1  ✔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INSERT INTO order_items ...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→ stock: 1 → 0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COMMIT;  -- 释放 X 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A 获胜，正常下单，库存扣到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00" cy="27432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38528"/>
            <a:ext cx="502920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-- Session B（后到，等待锁）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START TRANSACTION;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SELECT stock FROM dishes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WHERE dish_id=1 FOR UPDATE;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→ 阻塞等待 A 释放锁...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-- A 提交后 B 获得锁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→ stock = 0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  → 0 &lt; 1 → SIGNAL '库存不足!'</a:t>
            </a: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D2129"/>
                </a:solidFill>
                <a:latin typeface="Consolas"/>
              </a:defRPr>
            </a:pPr>
            <a:r>
              <a:t>ROLLBACK;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B 正确被拒绝，库存没有变成 -1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65D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129"/>
                </a:solidFill>
                <a:latin typeface="微软雅黑"/>
              </a:defRPr>
            </a:pPr>
            <a:r>
              <a:t>存储过程与事务管理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909C"/>
                </a:solidFill>
                <a:latin typeface="微软雅黑"/>
              </a:defRPr>
            </a:pPr>
            <a:r>
              <a:t>4 个存储过程 · ACID 事务 · ROLLBACK 回滚 · 游标恢复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sp_create_order：原子下单（四步一事务）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流程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365760" cy="36576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64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5DFF"/>
                </a:solidFill>
                <a:latin typeface="微软雅黑"/>
              </a:defRPr>
            </a:pPr>
            <a:r>
              <a:t>[1] 容量预检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FOR UPDATE 锁寄存点 → 查 capacity → 满则拒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04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5DFF"/>
                </a:solidFill>
                <a:latin typeface="微软雅黑"/>
              </a:defRPr>
            </a:pPr>
            <a:r>
              <a:t>[2] 余额检查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04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查 balance → 不足 SIGNAL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44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5DFF"/>
                </a:solidFill>
                <a:latin typeface="微软雅黑"/>
              </a:defRPr>
            </a:pPr>
            <a:r>
              <a:t>[3] 扣款 + 创单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44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UPDATE balance + INSERT INTO orders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566159"/>
            <a:ext cx="365760" cy="36576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8444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5DFF"/>
                </a:solidFill>
                <a:latin typeface="微软雅黑"/>
              </a:defRPr>
            </a:pPr>
            <a:r>
              <a:t>[4] 写明细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8444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INSERT INTO order_items → 触发库存触发器链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97680"/>
            <a:ext cx="5943600" cy="164592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07408"/>
            <a:ext cx="548640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-- 事务保护框架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DECLARE EXIT HANDLER FOR SQLEXCEPTION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BEGIN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ROLLBACK;  -- 四步全撤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RESIGNAL;  -- 向上抛错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END;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</a:pPr>
            <a:r>
              <a:t>START TRANSACTION;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-- 四步操作...</a:t>
            </a:r>
          </a:p>
          <a:p>
            <a:pPr>
              <a:spcAft>
                <a:spcPts val="200"/>
              </a:spcAft>
              <a:defRPr sz="1500">
                <a:solidFill>
                  <a:srgbClr val="1D2129"/>
                </a:solidFill>
                <a:latin typeface="Consolas"/>
              </a:defRPr>
              <a:shd fill="FFF7E6"/>
            </a:pPr>
            <a:r>
              <a:t>COMMIT;  -- 全成功才提交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ACID 体现在本系统</a:t>
            </a:r>
            <a:br/>
            <a:br/>
            <a:r>
              <a:t>A-原子性</a:t>
            </a:r>
            <a:br/>
            <a:r>
              <a:t>四步全部成功才 COMMIT</a:t>
            </a:r>
            <a:br/>
            <a:r>
              <a:t>任一失败 → ROLLBACK 全部撤销</a:t>
            </a:r>
            <a:br/>
            <a:br/>
            <a:r>
              <a:t>C-一致性</a:t>
            </a:r>
            <a:br/>
            <a:r>
              <a:t>12 个 CHECK 约束保证数据合法</a:t>
            </a:r>
            <a:br/>
            <a:r>
              <a:t>chk_capacity, balance&gt;=0, stock&gt;=0</a:t>
            </a:r>
            <a:br/>
            <a:br/>
            <a:r>
              <a:t>I-隔离性</a:t>
            </a:r>
            <a:br/>
            <a:r>
              <a:t>FOR UPDATE 行级锁</a:t>
            </a:r>
            <a:br/>
            <a:r>
              <a:t>并发事务互不干扰</a:t>
            </a:r>
            <a:br/>
            <a:br/>
            <a:r>
              <a:t>D-持久性</a:t>
            </a:r>
            <a:br/>
            <a:r>
              <a:t>InnoDB redo log</a:t>
            </a:r>
            <a:br/>
            <a:r>
              <a:t>COMMIT 后绝不丢失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两段配送存储过程 + 取消退款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sp_arrive_at_pickup_point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3657600" cy="22860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320040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START TRANSACTION;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-- Step 1: 状态跳转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UPDATE orders SET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order_status='Arrived_At_Point',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stage1_completed_at=NOW()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WHERE order_id=p_order_id;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-- Step 2: 包裹数+1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UPDATE pickup_points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SET current_packages=current+1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WHERE point_id=v_point_id;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-- → chk_capacity 执行检查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-- Trig: 干线骑手 → Idle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COMMIT;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sp_stage2_deliver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657600" cy="13716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55648"/>
            <a:ext cx="3200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START TRANSACTION;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UPDATE orders SET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order_status='Completed',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stage2_completed_at=NOW()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WHERE order_id=p_order_id;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UPDATE pickup_points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SET current_packages=current-1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WHERE point_id=v_point_id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  AND current_packages&gt;0;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-- Trig: 楼栋骑手 → Idle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COMMIT;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53F3F"/>
                </a:solidFill>
                <a:latin typeface="微软雅黑"/>
              </a:defRPr>
            </a:pPr>
            <a:r>
              <a:t>sp_cancel_order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✔ 检查状态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Completed/Cancelled 不能取消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✔ 退款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UPDATE balance + total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✔ 恢复库存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游标遍历 order_items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→ 逐菜品 stock + qty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✔ 释放包裹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已入库→ current-1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✔ 标记取消</a:t>
            </a:r>
          </a:p>
          <a:p>
            <a:pPr>
              <a:spcAft>
                <a:spcPts val="400"/>
              </a:spcAft>
              <a:defRPr sz="1400">
                <a:solidFill>
                  <a:srgbClr val="1D2129"/>
                </a:solidFill>
                <a:latin typeface="微软雅黑"/>
              </a:defRPr>
            </a:pPr>
            <a:r>
              <a:t>Trig → 释放所有骑手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B42A"/>
                </a:solidFill>
                <a:latin typeface="微软雅黑"/>
              </a:defRPr>
            </a:pPr>
            <a:r>
              <a:t>每个 SP 都有 EXIT HANDLER FOR SQLEXCEPTION → ROLLBACK → RESIGNAL。ACID 的教科书级实现。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事务回滚与爆仓处理流程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53F3F"/>
                </a:solidFill>
                <a:latin typeface="微软雅黑"/>
              </a:defRPr>
            </a:pPr>
            <a:r>
              <a:t>爆仓时的完整回滚链路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[1] 用户下单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sp_create_order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FOR UPDATE 查容量 → 80/80 满!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SIGNAL → 用户看到: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"该寄存点已满，请选邻近寄存点"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用户换 2 期寄存点下单 ✔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[2] 极端情况（绕过第一层）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sp_arrive_at_pickup_point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UPDATE current_packages=81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chk_capacity: 81 &gt; 80!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ROLLBACK (状态+时间戳全回退)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订单回到 Stage1_Assigned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正常情况走不到这一步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两层防护总结</a:t>
            </a:r>
            <a:br/>
            <a:br/>
            <a:r>
              <a:t>✔ 第一层（主动）</a:t>
            </a:r>
            <a:br/>
            <a:r>
              <a:t>下单时 FOR UPDATE 查容量</a:t>
            </a:r>
            <a:br/>
            <a:r>
              <a:t>满 → 拒绝 + 引导换柜</a:t>
            </a:r>
            <a:br/>
            <a:r>
              <a:t>防的是 99.9% 的场景</a:t>
            </a:r>
            <a:br/>
            <a:br/>
            <a:r>
              <a:t>✔ 第二层（被动）</a:t>
            </a:r>
            <a:br/>
            <a:r>
              <a:t>入库时 chk_capacity 硬约束</a:t>
            </a:r>
            <a:br/>
            <a:r>
              <a:t>超 → ROLLBACK</a:t>
            </a:r>
            <a:br/>
            <a:r>
              <a:t>防的是 0.1% 的极端并发</a:t>
            </a:r>
            <a:br/>
            <a:br/>
            <a:r>
              <a:t>两层之间有 FOR UPDATE</a:t>
            </a:r>
            <a:br/>
            <a:r>
              <a:t>保证各自的检查是原子的</a:t>
            </a:r>
            <a:br/>
            <a:r>
              <a:t>不会出现"同时看到最后一格"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65D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129"/>
                </a:solidFill>
                <a:latin typeface="微软雅黑"/>
              </a:defRPr>
            </a:pPr>
            <a:r>
              <a:t>视图 · 窗口函数 · AI 查询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909C"/>
                </a:solidFill>
                <a:latin typeface="微软雅黑"/>
              </a:defRPr>
            </a:pPr>
            <a:r>
              <a:t>饱和度预警 · RANK() OVER · DeepSeek Text-to-SQL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视图 1：vw_pickup_point_analytics —— 饱和度预警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00" cy="32004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94360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CREATE VIEW vw_pickup_point_analytics AS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p.point_name,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p.capacity AS max_capacity,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p.current_packages,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ROUND(p.current_packages/p.capacity*100, 2)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  AS saturation_pct,          -- 饱和度%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COALESCE(sub.backlog_count, 0)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  AS backlog_count            -- 溞留件数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FROM pickup_points p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LEFT JOIN (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SELECT pickup_point_id, COUNT(*) AS cnt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FROM orders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WHERE order_status IN ('Arrived_At_Point',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                        'Stage2_Assigned')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GROUP BY pickup_point_id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) sub ON p.point_id = sub.pickup_point_id;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7D00"/>
                </a:solidFill>
                <a:latin typeface="微软雅黑"/>
              </a:defRPr>
            </a:pPr>
            <a:r>
              <a:t>驱动大屏爆仓预警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大屏每 30 秒查询一次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saturation_pct &gt; 80%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黄色预警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"接近爆仓，注意调度"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saturation_pct = 100%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红色爆仓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"已满，新订单请换寄存点"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backlog_count = current_packages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→ chk_capacity 保证绝不超容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视图 = 把复杂 JOIN 封装成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一条简单的 SELECT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视图 2：vw_merchant_sales_rank + RANK() OVER 窗口函数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00" cy="2743200"/>
          </a:xfrm>
          <a:prstGeom prst="rect">
            <a:avLst/>
          </a:prstGeom>
          <a:solidFill>
            <a:srgbClr val="F2F3F5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94360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CREATE VIEW vw_merchant_sales_rank AS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m.merchant_name,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COUNT(DISTINCT o.order_id) AS total_orders,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IFNULL(SUM(o.total_amount), 0) AS total_sales,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RANK() OVER (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  ORDER BY SUM(o.total_amount) DESC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  <a:r>
              <a:t>  ) AS sales_rank    -- ★ 窗口函数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  <a:shd fill="FFF7E6"/>
            </a:pP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FROM merchants m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LEFT JOIN orders o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ON m.merchant_id = o.merchant_id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  AND o.order_status = 'Completed'</a:t>
            </a:r>
          </a:p>
          <a:p>
            <a:pPr>
              <a:spcAft>
                <a:spcPts val="200"/>
              </a:spcAft>
              <a:defRPr sz="1400">
                <a:solidFill>
                  <a:srgbClr val="1D2129"/>
                </a:solidFill>
                <a:latin typeface="Consolas"/>
              </a:defRPr>
            </a:pPr>
            <a:r>
              <a:t>GROUP BY m.merchant_id;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7D00"/>
                </a:solidFill>
                <a:latin typeface="微软雅黑"/>
              </a:defRPr>
            </a:pPr>
            <a:r>
              <a:t>RANK() OVER 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窗口函数 = 在结果集的"窗口"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上做计算，不改变行数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传统做法：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子查询 + @变量漂移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复杂、易出错、性能差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RANK() OVER：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一行 SQL 搞定排名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数据库引擎优化执行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RANK() vs ROW_NUMBER()：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RANK: 同分同名次 (1,2,2,4)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DENSE_RANK: 连续名次 (1,2,2,3)</a:t>
            </a:r>
          </a:p>
          <a:p>
            <a:pPr>
              <a:spcAft>
                <a:spcPts val="5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ROW_NUMBER: 无并列 (1,2,3,4)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AI Text-to-SQL：自然语言查数据库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用户输入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 生成 SQL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65D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"今天卖了多少钱？"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SELECT SUM(total_amount) FROM orders</a:t>
                      </a:r>
                    </a:p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WHERE DATE(created_at)=CURDATE()</a:t>
                      </a:r>
                    </a:p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AND order_status='Completed'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12,580 元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"哪个寄存点快满了？"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SELECT point_name, saturation_pct</a:t>
                      </a:r>
                    </a:p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FROM vw_pickup_point_analytics</a:t>
                      </a:r>
                    </a:p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ORDER BY saturation_pct 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3期 = 100%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"最受欢迎商家是谁？"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SELECT * FROM vw_merchant_sales_rank</a:t>
                      </a:r>
                    </a:p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LIMIT 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2129"/>
                          </a:solidFill>
                          <a:latin typeface="微软雅黑"/>
                        </a:defRPr>
                      </a:pPr>
                      <a:r>
                        <a:t>蜜雪冰城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5DFF"/>
                </a:solidFill>
                <a:latin typeface="微软雅黑"/>
              </a:defRPr>
            </a:pPr>
            <a:r>
              <a:t>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✔ Schema 注入：系统提示词包含完整的 7 张表结构 + 字段说明 + ENUM 值 + 视图信息 → AI 准确理解数据库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✔ 安全限制：仅允许 SELECT，禁止 INSERT/UPDATE/DELETE/DROP → AI 幻觉不会破坏数据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✔ 透明展示：前端同时显示生成的 SQL + 查询结果 → 用户可验证 AI 逻辑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✔ 成本极低：DeepSeek API 单次查询 &lt; 0.01 元人民币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65D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129"/>
                </a:solidFill>
                <a:latin typeface="微软雅黑"/>
              </a:defRPr>
            </a:pPr>
            <a:r>
              <a:t>系统大屏与可视化展示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909C"/>
                </a:solidFill>
                <a:latin typeface="微软雅黑"/>
              </a:defRPr>
            </a:pPr>
            <a:r>
              <a:t>Flask + ECharts 实时监控 · 3 个功能 Tab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大屏总览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38</a:t>
            </a:r>
          </a:p>
        </p:txBody>
      </p:sp>
      <p:pic>
        <p:nvPicPr>
          <p:cNvPr id="5" name="Picture 4" descr="01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129616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KPI 指标卡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39</a:t>
            </a:r>
          </a:p>
        </p:txBody>
      </p:sp>
      <p:pic>
        <p:nvPicPr>
          <p:cNvPr id="5" name="Picture 4" descr="04_kpi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2983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6909C"/>
                </a:solidFill>
                <a:latin typeface="微软雅黑"/>
              </a:defRPr>
            </a:pPr>
            <a:r>
              <a:t>今日订单数 · 今日营收 · 活跃骑手 · 活跃商家 · 爆仓点数 —— 5 个 KPI 卡片，30 秒自动刷新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订单管理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40</a:t>
            </a:r>
          </a:p>
        </p:txBody>
      </p:sp>
      <p:pic>
        <p:nvPicPr>
          <p:cNvPr id="5" name="Picture 4" descr="02_order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1411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6909C"/>
                </a:solidFill>
                <a:latin typeface="微软雅黑"/>
              </a:defRPr>
            </a:pPr>
            <a:r>
              <a:t>按六态状态筛选 + 实时数据表格 — 每个订单的全程状态一目了然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爆仓预警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41</a:t>
            </a:r>
          </a:p>
        </p:txBody>
      </p:sp>
      <p:pic>
        <p:nvPicPr>
          <p:cNvPr id="5" name="Picture 4" descr="10_overflow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3643312"/>
          </a:xfrm>
          <a:prstGeom prst="rect">
            <a:avLst/>
          </a:prstGeom>
        </p:spPr>
      </p:pic>
      <p:pic>
        <p:nvPicPr>
          <p:cNvPr id="6" name="Picture 5" descr="11_overflow_pi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188720"/>
            <a:ext cx="3383280" cy="1903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6909C"/>
                </a:solidFill>
                <a:latin typeface="微软雅黑"/>
              </a:defRPr>
            </a:pPr>
            <a:r>
              <a:t>饱和度柱状图：&gt; 80% 黄色预警  |  100% 红色爆仓  |  实时监控 12 个寄存点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寄存点管理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42</a:t>
            </a:r>
          </a:p>
        </p:txBody>
      </p:sp>
      <p:pic>
        <p:nvPicPr>
          <p:cNvPr id="5" name="Picture 4" descr="03_pickup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管理页面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43</a:t>
            </a:r>
          </a:p>
        </p:txBody>
      </p:sp>
      <p:pic>
        <p:nvPicPr>
          <p:cNvPr id="5" name="Picture 4" descr="05_merch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086100"/>
          </a:xfrm>
          <a:prstGeom prst="rect">
            <a:avLst/>
          </a:prstGeom>
        </p:spPr>
      </p:pic>
      <p:pic>
        <p:nvPicPr>
          <p:cNvPr id="6" name="Picture 5" descr="06_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086100"/>
          </a:xfrm>
          <a:prstGeom prst="rect">
            <a:avLst/>
          </a:prstGeom>
        </p:spPr>
      </p:pic>
      <p:pic>
        <p:nvPicPr>
          <p:cNvPr id="7" name="Picture 6" descr="07_r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7600"/>
            <a:ext cx="5486400" cy="3086100"/>
          </a:xfrm>
          <a:prstGeom prst="rect">
            <a:avLst/>
          </a:prstGeom>
        </p:spPr>
      </p:pic>
      <p:pic>
        <p:nvPicPr>
          <p:cNvPr id="8" name="Picture 7" descr="08_dish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65DFF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129"/>
                </a:solidFill>
                <a:latin typeface="微软雅黑"/>
              </a:defRPr>
            </a:pPr>
            <a:r>
              <a:t>创新总结与成果交付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909C"/>
                </a:solidFill>
                <a:latin typeface="微软雅黑"/>
              </a:defRPr>
            </a:pPr>
            <a:r>
              <a:t>7 大创新 · 项目交付物 · 未来展望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七大创新点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115568"/>
            <a:ext cx="411480" cy="41148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FOR UPDATE 行级锁防超卖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43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SELECT...FOR UPDATE 原子化"读-判断-写"，高并发绝不超卖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92807"/>
            <a:ext cx="411480" cy="41148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七重触发器防护体系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2023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库存(2)+骑手类型(2)+状态管理(2)+容量预检(1)，全自动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670048"/>
            <a:ext cx="411480" cy="411480"/>
          </a:xfrm>
          <a:prstGeom prst="ellipse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两段式配送状态机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9747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6态ENUM+双骑手+3时间戳，全链路追踪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447288"/>
            <a:ext cx="411480" cy="411480"/>
          </a:xfrm>
          <a:prstGeom prst="ellipse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chk_capacity 硬约束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CHECK(current&lt;=capacity)，80格绝不81包，双层防护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224527"/>
            <a:ext cx="411480" cy="411480"/>
          </a:xfrm>
          <a:prstGeom prst="ellipse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7D00"/>
                </a:solidFill>
                <a:latin typeface="微软雅黑"/>
              </a:defRPr>
            </a:pPr>
            <a:r>
              <a:t>RANK() OVER 窗口函数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25195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一行SQL排名，比应用层更快更准，MySQL 8.0新特性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001768"/>
            <a:ext cx="411480" cy="411480"/>
          </a:xfrm>
          <a:prstGeom prst="ellipse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7D00"/>
                </a:solidFill>
                <a:latin typeface="微软雅黑"/>
              </a:defRPr>
            </a:pPr>
            <a:r>
              <a:t>AI Text-to-SQL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29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DeepSeek+Schema注入，自然语言查数据，仅允许SELECT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5779007"/>
            <a:ext cx="411480" cy="41148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06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7B1FA2"/>
                </a:solidFill>
                <a:latin typeface="微软雅黑"/>
              </a:defRPr>
            </a:pPr>
            <a:r>
              <a:t>Cloudflare Tunnel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806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D2129"/>
                </a:solidFill>
                <a:latin typeface="微软雅黑"/>
              </a:defRPr>
            </a:pPr>
            <a:r>
              <a:t>免费公网隧道，评委扫码即看实时大屏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项目交付成果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46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2148840" cy="4572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campus_delivery_db.sql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7表 4索引 7触发器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4SP 2视图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64592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645920"/>
            <a:ext cx="2148840" cy="45720"/>
          </a:xfrm>
          <a:prstGeom prst="rect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模拟数据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488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generate_mock_data.py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5000条订单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容量感知生成器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164592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59" y="1645920"/>
            <a:ext cx="2148840" cy="4572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7D00"/>
                </a:solidFill>
                <a:latin typeface="微软雅黑"/>
              </a:defRPr>
            </a:pPr>
            <a:r>
              <a:t>Flask 大屏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488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app.py + 模板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REST API + ECharts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AI Text-to-SQL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64592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79" y="1645920"/>
            <a:ext cx="2148840" cy="45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7B1FA2"/>
                </a:solidFill>
                <a:latin typeface="微软雅黑"/>
              </a:defRPr>
            </a:pPr>
            <a:r>
              <a:t>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1488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实践报告.docx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答辩 PPT.pptx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README.md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64592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645920"/>
            <a:ext cx="2148840" cy="45720"/>
          </a:xfrm>
          <a:prstGeom prst="rect">
            <a:avLst/>
          </a:prstGeom>
          <a:solidFill>
            <a:srgbClr val="F5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53F3F"/>
                </a:solidFill>
                <a:latin typeface="微软雅黑"/>
              </a:defRPr>
            </a:pPr>
            <a:r>
              <a:t>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14884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Cloudflare Tunnel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公网访问</a:t>
            </a:r>
          </a:p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扫码即看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86909C"/>
                </a:solidFill>
                <a:latin typeface="微软雅黑"/>
              </a:defRPr>
            </a:pPr>
            <a:r>
              <a:t>GitHub: sou1maker/database  |  全部代码已提交推送  |  master 分支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6909C"/>
                </a:solidFill>
                <a:latin typeface="微软雅黑"/>
              </a:defRPr>
            </a:pPr>
            <a:r>
              <a:t>47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148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2148840" cy="4572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65DFF"/>
                </a:solidFill>
                <a:latin typeface="微软雅黑"/>
              </a:defRPr>
            </a:pPr>
            <a:r>
              <a:t>柜满排队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783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骑手送到的包裹进入等待队列，不抹掉已完成工作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645920"/>
            <a:ext cx="2148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645920"/>
            <a:ext cx="2148840" cy="45720"/>
          </a:xfrm>
          <a:prstGeom prst="rect">
            <a:avLst/>
          </a:prstGeom>
          <a:solidFill>
            <a:srgbClr val="00B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B42A"/>
                </a:solidFill>
                <a:latin typeface="微软雅黑"/>
              </a:defRPr>
            </a:pPr>
            <a:r>
              <a:t>智能调度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48840"/>
            <a:ext cx="1783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下单时自动推荐邻近有空位的寄存点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1645920"/>
            <a:ext cx="2148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59" y="1645920"/>
            <a:ext cx="2148840" cy="45720"/>
          </a:xfrm>
          <a:prstGeom prst="rect">
            <a:avLst/>
          </a:prstGeom>
          <a:solidFill>
            <a:srgbClr val="FF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7D00"/>
                </a:solidFill>
                <a:latin typeface="微软雅黑"/>
              </a:defRPr>
            </a:pPr>
            <a:r>
              <a:t>路线优化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48840"/>
            <a:ext cx="1783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楼栋骑手一次取5-8件，路径规划批量配送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645920"/>
            <a:ext cx="2148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79" y="1645920"/>
            <a:ext cx="2148840" cy="45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7B1FA2"/>
                </a:solidFill>
                <a:latin typeface="微软雅黑"/>
              </a:defRPr>
            </a:pPr>
            <a:r>
              <a:t>实时追踪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148840"/>
            <a:ext cx="1783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接入地图API，用户看包裹从商家到寝室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645920"/>
            <a:ext cx="2148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645920"/>
            <a:ext cx="2148840" cy="45720"/>
          </a:xfrm>
          <a:prstGeom prst="rect">
            <a:avLst/>
          </a:prstGeom>
          <a:solidFill>
            <a:srgbClr val="F5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7556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53F3F"/>
                </a:solidFill>
                <a:latin typeface="微软雅黑"/>
              </a:defRPr>
            </a:pPr>
            <a:r>
              <a:t>压测验证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148840"/>
            <a:ext cx="1783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D2129"/>
                </a:solidFill>
                <a:latin typeface="微软雅黑"/>
              </a:defRPr>
            </a:pPr>
            <a:r>
              <a:t>sysbench测试QPS上限，验证FOR UPDATE瓶颈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65DFF"/>
                </a:solidFill>
                <a:latin typeface="微软雅黑"/>
              </a:defRPr>
            </a:pPr>
            <a:r>
              <a:t>感谢各位老师聆听！欢迎扫码访问实时大屏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6909C"/>
                </a:solidFill>
                <a:latin typeface="微软雅黑"/>
              </a:defRPr>
            </a:pPr>
            <a:r>
              <a:t>MySQL 8.0  ·  Flask  ·  ECharts  ·  DeepSeek AI  |  2026 年 6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