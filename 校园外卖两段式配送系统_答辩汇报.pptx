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bookmarkIdSeed="3">
  <p:sldMasterIdLst>
    <p:sldMasterId id="2147483648" r:id="rId1"/>
    <p:sldMasterId id="2147483660" r:id="rId2"/>
    <p:sldMasterId id="2147483662" r:id="rId3"/>
    <p:sldMasterId id="2147483664" r:id="rId4"/>
  </p:sldMasterIdLst>
  <p:notesMasterIdLst>
    <p:notesMasterId r:id="rId47"/>
  </p:notesMasterIdLst>
  <p:sldIdLst>
    <p:sldId id="301" r:id="rId5"/>
    <p:sldId id="302" r:id="rId6"/>
    <p:sldId id="283" r:id="rId7"/>
    <p:sldId id="304" r:id="rId8"/>
    <p:sldId id="305" r:id="rId9"/>
    <p:sldId id="306" r:id="rId10"/>
    <p:sldId id="307" r:id="rId11"/>
    <p:sldId id="308" r:id="rId12"/>
    <p:sldId id="290" r:id="rId13"/>
    <p:sldId id="310" r:id="rId14"/>
    <p:sldId id="345" r:id="rId15"/>
    <p:sldId id="338" r:id="rId16"/>
    <p:sldId id="313" r:id="rId17"/>
    <p:sldId id="337" r:id="rId18"/>
    <p:sldId id="336" r:id="rId19"/>
    <p:sldId id="314" r:id="rId20"/>
    <p:sldId id="335" r:id="rId21"/>
    <p:sldId id="312" r:id="rId22"/>
    <p:sldId id="315" r:id="rId23"/>
    <p:sldId id="316" r:id="rId24"/>
    <p:sldId id="346" r:id="rId25"/>
    <p:sldId id="319" r:id="rId26"/>
    <p:sldId id="322" r:id="rId27"/>
    <p:sldId id="320" r:id="rId28"/>
    <p:sldId id="321" r:id="rId29"/>
    <p:sldId id="344" r:id="rId30"/>
    <p:sldId id="323" r:id="rId31"/>
    <p:sldId id="324" r:id="rId32"/>
    <p:sldId id="341" r:id="rId33"/>
    <p:sldId id="340" r:id="rId34"/>
    <p:sldId id="339" r:id="rId35"/>
    <p:sldId id="325" r:id="rId36"/>
    <p:sldId id="326" r:id="rId37"/>
    <p:sldId id="327" r:id="rId38"/>
    <p:sldId id="329" r:id="rId39"/>
    <p:sldId id="330" r:id="rId40"/>
    <p:sldId id="328" r:id="rId41"/>
    <p:sldId id="331" r:id="rId42"/>
    <p:sldId id="332" r:id="rId43"/>
    <p:sldId id="333" r:id="rId44"/>
    <p:sldId id="348" r:id="rId45"/>
    <p:sldId id="334" r:id="rId4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53" autoAdjust="0"/>
    <p:restoredTop sz="91777" autoAdjust="0"/>
  </p:normalViewPr>
  <p:slideViewPr>
    <p:cSldViewPr snapToGrid="0">
      <p:cViewPr varScale="1">
        <p:scale>
          <a:sx n="59" d="100"/>
          <a:sy n="59" d="100"/>
        </p:scale>
        <p:origin x="1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B97A68-F4BC-4BA1-A760-4856610AA91D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856E2C-2EB5-405A-A7D0-C341A5810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97C25A-2842-4757-83AC-3F037547689E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1.jpe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svg"/><Relationship Id="rId5" Type="http://schemas.openxmlformats.org/officeDocument/2006/relationships/image" Target="../media/image20.svg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svg"/><Relationship Id="rId5" Type="http://schemas.openxmlformats.org/officeDocument/2006/relationships/image" Target="../media/image22.svg"/><Relationship Id="rId4" Type="http://schemas.openxmlformats.org/officeDocument/2006/relationships/image" Target="../media/image24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0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0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0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2" Type="http://schemas.openxmlformats.org/officeDocument/2006/relationships/tags" Target="../tags/tag2.xml"/><Relationship Id="rId16" Type="http://schemas.openxmlformats.org/officeDocument/2006/relationships/image" Target="../media/image1.jpe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notesSlide" Target="../notesSlides/notesSlide22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svg"/><Relationship Id="rId5" Type="http://schemas.openxmlformats.org/officeDocument/2006/relationships/image" Target="../media/image25.svg"/><Relationship Id="rId4" Type="http://schemas.openxmlformats.org/officeDocument/2006/relationships/image" Target="../media/image29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tags" Target="../tags/tag21.xml"/><Relationship Id="rId13" Type="http://schemas.openxmlformats.org/officeDocument/2006/relationships/image" Target="../media/image1.jpeg"/><Relationship Id="rId3" Type="http://schemas.openxmlformats.org/officeDocument/2006/relationships/tags" Target="../tags/tag16.xml"/><Relationship Id="rId7" Type="http://schemas.openxmlformats.org/officeDocument/2006/relationships/tags" Target="../tags/tag20.xml"/><Relationship Id="rId12" Type="http://schemas.openxmlformats.org/officeDocument/2006/relationships/notesSlide" Target="../notesSlides/notesSlide24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tags" Target="../tags/tag19.xml"/><Relationship Id="rId11" Type="http://schemas.openxmlformats.org/officeDocument/2006/relationships/slideLayout" Target="../slideLayouts/slideLayout12.xml"/><Relationship Id="rId5" Type="http://schemas.openxmlformats.org/officeDocument/2006/relationships/tags" Target="../tags/tag18.xml"/><Relationship Id="rId10" Type="http://schemas.openxmlformats.org/officeDocument/2006/relationships/tags" Target="../tags/tag23.xml"/><Relationship Id="rId4" Type="http://schemas.openxmlformats.org/officeDocument/2006/relationships/tags" Target="../tags/tag17.xml"/><Relationship Id="rId9" Type="http://schemas.openxmlformats.org/officeDocument/2006/relationships/tags" Target="../tags/tag22.xml"/><Relationship Id="rId14" Type="http://schemas.openxmlformats.org/officeDocument/2006/relationships/image" Target="../media/image7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svg"/><Relationship Id="rId5" Type="http://schemas.openxmlformats.org/officeDocument/2006/relationships/image" Target="../media/image14.svg"/><Relationship Id="rId4" Type="http://schemas.openxmlformats.org/officeDocument/2006/relationships/image" Target="../media/image3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svg"/><Relationship Id="rId5" Type="http://schemas.openxmlformats.org/officeDocument/2006/relationships/image" Target="../media/image30.svg"/><Relationship Id="rId4" Type="http://schemas.openxmlformats.org/officeDocument/2006/relationships/image" Target="../media/image14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svg"/><Relationship Id="rId5" Type="http://schemas.openxmlformats.org/officeDocument/2006/relationships/image" Target="../media/image30.svg"/><Relationship Id="rId4" Type="http://schemas.openxmlformats.org/officeDocument/2006/relationships/image" Target="../media/image14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svg"/><Relationship Id="rId5" Type="http://schemas.openxmlformats.org/officeDocument/2006/relationships/image" Target="../media/image30.svg"/><Relationship Id="rId4" Type="http://schemas.openxmlformats.org/officeDocument/2006/relationships/image" Target="../media/image14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13" Type="http://schemas.openxmlformats.org/officeDocument/2006/relationships/image" Target="../media/image14.svg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12" Type="http://schemas.openxmlformats.org/officeDocument/2006/relationships/image" Target="../media/image1.jpeg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notesSlide" Target="../notesSlides/notesSlide31.xml"/><Relationship Id="rId5" Type="http://schemas.openxmlformats.org/officeDocument/2006/relationships/tags" Target="../tags/tag28.xml"/><Relationship Id="rId15" Type="http://schemas.openxmlformats.org/officeDocument/2006/relationships/image" Target="../media/image17.svg"/><Relationship Id="rId10" Type="http://schemas.openxmlformats.org/officeDocument/2006/relationships/slideLayout" Target="../slideLayouts/slideLayout12.xml"/><Relationship Id="rId4" Type="http://schemas.openxmlformats.org/officeDocument/2006/relationships/tags" Target="../tags/tag27.xml"/><Relationship Id="rId9" Type="http://schemas.openxmlformats.org/officeDocument/2006/relationships/tags" Target="../tags/tag32.xml"/><Relationship Id="rId14" Type="http://schemas.openxmlformats.org/officeDocument/2006/relationships/image" Target="../media/image30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4.svg"/><Relationship Id="rId4" Type="http://schemas.openxmlformats.org/officeDocument/2006/relationships/image" Target="../media/image36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jpeg"/><Relationship Id="rId7" Type="http://schemas.openxmlformats.org/officeDocument/2006/relationships/image" Target="../media/image40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svg"/><Relationship Id="rId5" Type="http://schemas.openxmlformats.org/officeDocument/2006/relationships/image" Target="../media/image38.svg"/><Relationship Id="rId4" Type="http://schemas.openxmlformats.org/officeDocument/2006/relationships/image" Target="../media/image37.sv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1.jpeg"/><Relationship Id="rId7" Type="http://schemas.openxmlformats.org/officeDocument/2006/relationships/image" Target="../media/image45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svg"/><Relationship Id="rId11" Type="http://schemas.openxmlformats.org/officeDocument/2006/relationships/image" Target="../media/image48.png"/><Relationship Id="rId5" Type="http://schemas.openxmlformats.org/officeDocument/2006/relationships/image" Target="../media/image43.svg"/><Relationship Id="rId10" Type="http://schemas.openxmlformats.org/officeDocument/2006/relationships/image" Target="../media/image16.svg"/><Relationship Id="rId4" Type="http://schemas.openxmlformats.org/officeDocument/2006/relationships/image" Target="../media/image42.svg"/><Relationship Id="rId9" Type="http://schemas.openxmlformats.org/officeDocument/2006/relationships/image" Target="../media/image47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1.jpeg"/><Relationship Id="rId7" Type="http://schemas.openxmlformats.org/officeDocument/2006/relationships/image" Target="../media/image46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7.svg"/><Relationship Id="rId5" Type="http://schemas.openxmlformats.org/officeDocument/2006/relationships/image" Target="../media/image16.svg"/><Relationship Id="rId4" Type="http://schemas.openxmlformats.org/officeDocument/2006/relationships/image" Target="../media/image45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校园外卖两段式配送系统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461000" y="3937000"/>
            <a:ext cx="1270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4318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2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数据库课程设计答辩汇报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0" y="5715000"/>
            <a:ext cx="12192000" cy="889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2527300" y="5842000"/>
            <a:ext cx="355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汇报人：</a:t>
            </a:r>
            <a:r>
              <a:rPr kumimoji="0" lang="zh-CN" altLang="en-US" sz="160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刘如一</a:t>
            </a:r>
          </a:p>
        </p:txBody>
      </p:sp>
      <p:cxnSp>
        <p:nvCxnSpPr>
          <p:cNvPr id="8" name="Connector 8"/>
          <p:cNvCxnSpPr/>
          <p:nvPr/>
        </p:nvCxnSpPr>
        <p:spPr>
          <a:xfrm rot="5314074">
            <a:off x="5842000" y="6153229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6381750" y="5842000"/>
            <a:ext cx="4794885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小组成员：方泽锦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 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高子帅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 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刘如一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 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许宸豪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 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叶张弛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目录 CONTENTS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52500" y="1968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Connector 6"/>
          <p:cNvCxnSpPr/>
          <p:nvPr/>
        </p:nvCxnSpPr>
        <p:spPr>
          <a:xfrm rot="5350892">
            <a:off x="1206500" y="2406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778000" y="1930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项目背景与需求分析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剖析业务痛点与核心诉求，明确系统建设的目标与方向，为架构设计奠定基础。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762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952500" y="3619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0" name="Connector 10"/>
          <p:cNvCxnSpPr/>
          <p:nvPr/>
        </p:nvCxnSpPr>
        <p:spPr>
          <a:xfrm rot="5350892">
            <a:off x="1206500" y="4057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1778000" y="3581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系统架构与数据库总览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展示系统整体技术架构，全景式呈现数据库选型、逻辑分层及各模块交互关系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12" name="AutoShape 12"/>
          <p:cNvSpPr/>
          <p:nvPr/>
        </p:nvSpPr>
        <p:spPr>
          <a:xfrm>
            <a:off x="762000" y="5080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952500" y="5270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4" name="Connector 14"/>
          <p:cNvCxnSpPr/>
          <p:nvPr/>
        </p:nvCxnSpPr>
        <p:spPr>
          <a:xfrm rot="5350892">
            <a:off x="1206500" y="5708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1778000" y="5232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核心表结构详解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深度解析核心业务表的字段设计、关联关系与范式规范，保障数据存储的合理性。</a:t>
            </a:r>
          </a:p>
        </p:txBody>
      </p:sp>
      <p:sp>
        <p:nvSpPr>
          <p:cNvPr id="16" name="AutoShape 16"/>
          <p:cNvSpPr/>
          <p:nvPr/>
        </p:nvSpPr>
        <p:spPr>
          <a:xfrm>
            <a:off x="4445000" y="1778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4635500" y="1968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" name="Connector 18"/>
          <p:cNvCxnSpPr/>
          <p:nvPr/>
        </p:nvCxnSpPr>
        <p:spPr>
          <a:xfrm rot="5350892">
            <a:off x="4889500" y="2406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5461000" y="1930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索引策略与性能优化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构建高效索引体系，结合查询分析与慢查询优化，大幅提升数据库的读写性能。</a:t>
            </a:r>
          </a:p>
        </p:txBody>
      </p:sp>
      <p:sp>
        <p:nvSpPr>
          <p:cNvPr id="20" name="AutoShape 20"/>
          <p:cNvSpPr/>
          <p:nvPr/>
        </p:nvSpPr>
        <p:spPr>
          <a:xfrm>
            <a:off x="4445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4635500" y="3619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2" name="Connector 22"/>
          <p:cNvCxnSpPr/>
          <p:nvPr/>
        </p:nvCxnSpPr>
        <p:spPr>
          <a:xfrm rot="5350892">
            <a:off x="4889500" y="4057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5461000" y="3581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</a:t>
            </a:r>
            <a:r>
              <a:rPr lang="zh-CN" altLang="en-US" sz="1600" b="1" kern="0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通过多层级触发器机制，实现数据校验、日志审计与异常拦截，筑牢数据安全防线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4445000" y="5080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4635500" y="5270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6" name="Connector 26"/>
          <p:cNvCxnSpPr/>
          <p:nvPr/>
        </p:nvCxnSpPr>
        <p:spPr>
          <a:xfrm rot="5350892">
            <a:off x="4889500" y="5708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5461000" y="5232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存储过程与事务管理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封装复杂业务逻辑，利用事务特性确保数据操作的原子性、一致性与完整性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28" name="AutoShape 28"/>
          <p:cNvSpPr/>
          <p:nvPr/>
        </p:nvSpPr>
        <p:spPr>
          <a:xfrm>
            <a:off x="8064500" y="1778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8255000" y="1968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0" name="Connector 30"/>
          <p:cNvCxnSpPr/>
          <p:nvPr/>
        </p:nvCxnSpPr>
        <p:spPr>
          <a:xfrm rot="5350892">
            <a:off x="8509000" y="2406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31"/>
          <p:cNvSpPr/>
          <p:nvPr/>
        </p:nvSpPr>
        <p:spPr>
          <a:xfrm>
            <a:off x="9080500" y="1930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视图</a:t>
            </a:r>
            <a:r>
              <a: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</a:t>
            </a:r>
            <a:endParaRPr kumimoji="0" lang="en-US" altLang="zh-CN" sz="1600" b="1" i="0" u="none" strike="noStrike" kern="0" cap="none" spc="0" normalizeH="0" baseline="0" noProof="0" dirty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基于视图简化数据访问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</a:t>
            </a: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同时确保数据的安全性。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80645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8255000" y="3619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4" name="Connector 34"/>
          <p:cNvCxnSpPr/>
          <p:nvPr/>
        </p:nvCxnSpPr>
        <p:spPr>
          <a:xfrm rot="5350892">
            <a:off x="8509000" y="4057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" name="AutoShape 35"/>
          <p:cNvSpPr/>
          <p:nvPr/>
        </p:nvSpPr>
        <p:spPr>
          <a:xfrm>
            <a:off x="9080500" y="3581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buClr>
                <a:srgbClr val="000000"/>
              </a:buClr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可视化大屏</a:t>
            </a:r>
            <a:r>
              <a: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</a:t>
            </a:r>
            <a:r>
              <a:rPr kumimoji="0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查询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lvl="0">
              <a:lnSpc>
                <a:spcPct val="108000"/>
              </a:lnSpc>
              <a:buClr>
                <a:srgbClr val="000000"/>
              </a:buClr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搭建实时数据可视化看板，动态展示核心指标</a:t>
            </a: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，同时</a:t>
            </a:r>
            <a:r>
              <a:rPr lang="en-US" altLang="zh-CN" sz="1200" kern="0" dirty="0" err="1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结合AI技术实现自然语言到SQL的智能转换与查询推荐</a:t>
            </a:r>
            <a:r>
              <a:rPr lang="en-US" altLang="zh-CN" sz="1200" kern="0" dirty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6" name="AutoShape 36"/>
          <p:cNvSpPr/>
          <p:nvPr/>
        </p:nvSpPr>
        <p:spPr>
          <a:xfrm>
            <a:off x="8064500" y="5080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8255000" y="5270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09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8" name="Connector 38"/>
          <p:cNvCxnSpPr/>
          <p:nvPr/>
        </p:nvCxnSpPr>
        <p:spPr>
          <a:xfrm rot="5350892">
            <a:off x="8509000" y="5708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9080500" y="5232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创新总结与成果交付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梳理项目技术创新点与实践成果，总结经验并展望未来优化方向与应用价值。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0000" b="1" i="0" u="none" strike="noStrike" kern="0" cap="none" spc="0" normalizeH="0" baseline="0" noProof="0" dirty="0">
                <a:ln>
                  <a:noFill/>
                </a:ln>
                <a:solidFill>
                  <a:srgbClr val="22C55E">
                    <a:alpha val="70196"/>
                  </a:srgbClr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kumimoji="0" lang="en-US" altLang="zh-CN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413000"/>
            <a:ext cx="12192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69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20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项目背景与需求分析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校园外卖市场与传统痛点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905000"/>
            <a:ext cx="5080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1905000"/>
            <a:ext cx="76200" cy="1841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79500" y="2095500"/>
            <a:ext cx="444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6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4500亿+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079500" y="2921000"/>
            <a:ext cx="4508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中国外卖市场规模已突破4500亿大关，高校群体外卖渗透率高达70%以上，成为行业增长的核心引擎。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4191000"/>
            <a:ext cx="5080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4191000"/>
            <a:ext cx="76200" cy="1841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1079500" y="4381500"/>
            <a:ext cx="444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10000单/日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79500" y="5207000"/>
            <a:ext cx="4508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头部高校日均外卖订单量超120万单，高频刚需的消费场景下，传统配送模式已难以承载庞大的业务需求。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2" name="Connector 12"/>
          <p:cNvCxnSpPr/>
          <p:nvPr/>
        </p:nvCxnSpPr>
        <p:spPr>
          <a:xfrm rot="5389422">
            <a:off x="4159250" y="3962410"/>
            <a:ext cx="4127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rcRect t="11285" b="11285"/>
          <a:stretch>
            <a:fillRect/>
          </a:stretch>
        </p:blipFill>
        <p:spPr>
          <a:xfrm>
            <a:off x="6477000" y="1905000"/>
            <a:ext cx="4953000" cy="2159000"/>
          </a:xfrm>
          <a:prstGeom prst="rect">
            <a:avLst/>
          </a:prstGeom>
          <a:noFill/>
          <a:ln w="25400" cap="flat" cmpd="sng">
            <a:solidFill>
              <a:srgbClr val="22C55E">
                <a:alpha val="50000"/>
              </a:srgbClr>
            </a:solidFill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6477000" y="4318000"/>
            <a:ext cx="1587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04000" y="4445000"/>
            <a:ext cx="355600" cy="355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6604000" y="4953000"/>
            <a:ext cx="1333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校门禁入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校外骑手无法进入宿舍区，配送被迫中断，用户需自行取餐。</a:t>
            </a:r>
          </a:p>
        </p:txBody>
      </p:sp>
      <p:sp>
        <p:nvSpPr>
          <p:cNvPr id="17" name="AutoShape 17"/>
          <p:cNvSpPr/>
          <p:nvPr/>
        </p:nvSpPr>
        <p:spPr>
          <a:xfrm>
            <a:off x="8153400" y="4318000"/>
            <a:ext cx="1587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80400" y="4445000"/>
            <a:ext cx="355600" cy="3556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8280400" y="4953000"/>
            <a:ext cx="1333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高峰拥堵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取餐点骑手扎堆聚集，人流混乱，配送时效与秩序难以保障。</a:t>
            </a:r>
          </a:p>
        </p:txBody>
      </p:sp>
      <p:sp>
        <p:nvSpPr>
          <p:cNvPr id="20" name="AutoShape 20"/>
          <p:cNvSpPr/>
          <p:nvPr/>
        </p:nvSpPr>
        <p:spPr>
          <a:xfrm>
            <a:off x="9842500" y="4318000"/>
            <a:ext cx="1587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69500" y="4445000"/>
            <a:ext cx="355600" cy="3556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9969500" y="4953000"/>
            <a:ext cx="1333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丢失错拿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外卖缺乏专人管理，无秩序堆放，导致日均丢失率高达3%-5%。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解决方案：“两段式”配送模型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rcRect t="10714" b="10714"/>
          <a:stretch>
            <a:fillRect/>
          </a:stretch>
        </p:blipFill>
        <p:spPr>
          <a:xfrm>
            <a:off x="762000" y="1778000"/>
            <a:ext cx="3556000" cy="279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762000" y="4953000"/>
            <a:ext cx="3556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889000" y="5080000"/>
            <a:ext cx="330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核心逻辑：中转枢纽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将完整配送链拆分为干线与楼栋两段，以宿舍楼智能寄存柜为物理节点，实现校内外配送的有效隔离与高效衔接。</a:t>
            </a:r>
          </a:p>
        </p:txBody>
      </p:sp>
      <p:cxnSp>
        <p:nvCxnSpPr>
          <p:cNvPr id="7" name="Connector 7"/>
          <p:cNvCxnSpPr/>
          <p:nvPr/>
        </p:nvCxnSpPr>
        <p:spPr>
          <a:xfrm rot="5390450">
            <a:off x="2540000" y="4057659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5207000" y="1778000"/>
            <a:ext cx="6223000" cy="1397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5397500" y="1905000"/>
            <a:ext cx="584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全链路标准化配送流程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0" name="Connector 10"/>
          <p:cNvCxnSpPr/>
          <p:nvPr/>
        </p:nvCxnSpPr>
        <p:spPr>
          <a:xfrm rot="-7473">
            <a:off x="5397507" y="2406650"/>
            <a:ext cx="584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5397500" y="2508250"/>
            <a:ext cx="584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商家发货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→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干线骑手配送至寄存柜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→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楼栋骑手取货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→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精准送达学生手中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5207000" y="3683000"/>
            <a:ext cx="30226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5207000" y="3683000"/>
            <a:ext cx="508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97500" y="38100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842000" y="3784600"/>
            <a:ext cx="222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严格保障校园安全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校外骑手仅在公共区域交接，不进入宿舍核心区，从源头杜绝外部人员带来的安全隐患。</a:t>
            </a:r>
          </a:p>
        </p:txBody>
      </p:sp>
      <p:sp>
        <p:nvSpPr>
          <p:cNvPr id="16" name="AutoShape 16"/>
          <p:cNvSpPr/>
          <p:nvPr/>
        </p:nvSpPr>
        <p:spPr>
          <a:xfrm>
            <a:off x="8407400" y="3683000"/>
            <a:ext cx="30226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8407400" y="3683000"/>
            <a:ext cx="508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97900" y="3810000"/>
            <a:ext cx="304800" cy="304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9042400" y="3784600"/>
            <a:ext cx="222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物理容量硬约束机制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利用寄存柜有限的存储空间，自动平衡单量，避免高峰期货物堆积爆仓，保障秩序。</a:t>
            </a:r>
          </a:p>
        </p:txBody>
      </p:sp>
      <p:sp>
        <p:nvSpPr>
          <p:cNvPr id="20" name="AutoShape 20"/>
          <p:cNvSpPr/>
          <p:nvPr/>
        </p:nvSpPr>
        <p:spPr>
          <a:xfrm>
            <a:off x="5207000" y="5080000"/>
            <a:ext cx="30226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5207000" y="5080000"/>
            <a:ext cx="508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97500" y="52070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5842000" y="5181600"/>
            <a:ext cx="222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两段分工效率倍增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干线骑手专注长途接驳，楼栋骑手专注最后百米分发，职责分离让双方配送效率最大化。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8407400" y="5080000"/>
            <a:ext cx="30226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8407400" y="5080000"/>
            <a:ext cx="508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97900" y="52070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9042400" y="5181600"/>
            <a:ext cx="222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全流程数据可追溯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关键节点时间戳实时上传，形成完整审计日志，货物状态与责任归属清晰可查。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六态订单状态机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10668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1524000"/>
            <a:ext cx="76200" cy="19050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16000" y="1651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订单正常流转链路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7" name="Connector 7"/>
          <p:cNvCxnSpPr/>
          <p:nvPr/>
        </p:nvCxnSpPr>
        <p:spPr>
          <a:xfrm rot="-4297">
            <a:off x="1016004" y="2152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2413000"/>
            <a:ext cx="18415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1079500" y="2476500"/>
            <a:ext cx="171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已支付 Paid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用户完成支付，系统生成订单基础信息</a:t>
            </a:r>
          </a:p>
        </p:txBody>
      </p:sp>
      <p:sp>
        <p:nvSpPr>
          <p:cNvPr id="10" name="AutoShape 10"/>
          <p:cNvSpPr/>
          <p:nvPr/>
        </p:nvSpPr>
        <p:spPr>
          <a:xfrm>
            <a:off x="3048000" y="2413000"/>
            <a:ext cx="18415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3111500" y="2476500"/>
            <a:ext cx="171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干线接单 Stage1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干线物流承接订单，开始区域间长途配送</a:t>
            </a:r>
          </a:p>
        </p:txBody>
      </p:sp>
      <p:sp>
        <p:nvSpPr>
          <p:cNvPr id="12" name="AutoShape 12"/>
          <p:cNvSpPr/>
          <p:nvPr/>
        </p:nvSpPr>
        <p:spPr>
          <a:xfrm>
            <a:off x="5080000" y="2413000"/>
            <a:ext cx="18415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5143500" y="2476500"/>
            <a:ext cx="171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已入柜 Arrived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货物抵达社区前置柜，等待楼栋配送调度</a:t>
            </a:r>
          </a:p>
        </p:txBody>
      </p:sp>
      <p:sp>
        <p:nvSpPr>
          <p:cNvPr id="14" name="AutoShape 14"/>
          <p:cNvSpPr/>
          <p:nvPr/>
        </p:nvSpPr>
        <p:spPr>
          <a:xfrm>
            <a:off x="7112000" y="2413000"/>
            <a:ext cx="18415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175500" y="2476500"/>
            <a:ext cx="171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楼栋接单 Stage2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楼栋专员接单，执行“最后一百米”配送</a:t>
            </a:r>
          </a:p>
        </p:txBody>
      </p:sp>
      <p:sp>
        <p:nvSpPr>
          <p:cNvPr id="16" name="AutoShape 16"/>
          <p:cNvSpPr/>
          <p:nvPr/>
        </p:nvSpPr>
        <p:spPr>
          <a:xfrm>
            <a:off x="9144000" y="2413000"/>
            <a:ext cx="18415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9207500" y="2476500"/>
            <a:ext cx="171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已完成 Completed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用户签收确认，订单全流程顺利结束</a:t>
            </a:r>
          </a:p>
        </p:txBody>
      </p:sp>
      <p:sp>
        <p:nvSpPr>
          <p:cNvPr id="18" name="AutoShape 18"/>
          <p:cNvSpPr/>
          <p:nvPr/>
        </p:nvSpPr>
        <p:spPr>
          <a:xfrm>
            <a:off x="762000" y="3810000"/>
            <a:ext cx="5207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762000" y="3810000"/>
            <a:ext cx="76200" cy="1905000"/>
          </a:xfrm>
          <a:prstGeom prst="roundRect">
            <a:avLst>
              <a:gd name="adj" fmla="val 0"/>
            </a:avLst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9370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3937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全局异常熔断机制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2" name="Connector 22"/>
          <p:cNvCxnSpPr/>
          <p:nvPr/>
        </p:nvCxnSpPr>
        <p:spPr>
          <a:xfrm rot="-9291">
            <a:off x="1016009" y="4438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1016000" y="4635500"/>
            <a:ext cx="4699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系统支持在任意非终态节点（已支付至楼栋接单）触发</a:t>
            </a: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“已取消(Cancelled)”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状态。无论是用户主动申请还是系统异常拦截，均可安全终止流程，并自动记录取消原因与操作人，确保数据闭环。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6223000" y="3810000"/>
            <a:ext cx="5207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223000" y="3810000"/>
            <a:ext cx="76200" cy="19050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39370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6858000" y="3937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核心节点时间戳审计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8" name="Connector 28"/>
          <p:cNvCxnSpPr/>
          <p:nvPr/>
        </p:nvCxnSpPr>
        <p:spPr>
          <a:xfrm rot="-9291">
            <a:off x="6477009" y="4438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6477000" y="4699000"/>
            <a:ext cx="1524000" cy="889000"/>
          </a:xfrm>
          <a:prstGeom prst="roundRect">
            <a:avLst>
              <a:gd name="adj" fmla="val 0"/>
            </a:avLst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540500" y="47625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1" i="0" u="none" strike="noStrike" kern="0" cap="none" spc="0" normalizeH="0" baseline="0" noProof="0" dirty="0" err="1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created_at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订单初始化生成的基准时间，作为全流程追溯起点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31" name="AutoShape 31"/>
          <p:cNvSpPr/>
          <p:nvPr/>
        </p:nvSpPr>
        <p:spPr>
          <a:xfrm>
            <a:off x="8128000" y="4699000"/>
            <a:ext cx="1524000" cy="889000"/>
          </a:xfrm>
          <a:prstGeom prst="roundRect">
            <a:avLst>
              <a:gd name="adj" fmla="val 0"/>
            </a:avLst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8191500" y="47625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stage1_completed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干线配送任务实际完成的时间节点，用于考核时效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33" name="AutoShape 33"/>
          <p:cNvSpPr/>
          <p:nvPr/>
        </p:nvSpPr>
        <p:spPr>
          <a:xfrm>
            <a:off x="9715500" y="4699000"/>
            <a:ext cx="1524000" cy="889000"/>
          </a:xfrm>
          <a:prstGeom prst="roundRect">
            <a:avLst>
              <a:gd name="adj" fmla="val 0"/>
            </a:avLst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779000" y="47625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stage2_completed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楼栋端最后交付完成时间，标志服务履约闭环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35" name="AutoShape 35"/>
          <p:cNvSpPr/>
          <p:nvPr/>
        </p:nvSpPr>
        <p:spPr>
          <a:xfrm>
            <a:off x="762000" y="59690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22C55E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6" name="AutoShape 36"/>
          <p:cNvSpPr/>
          <p:nvPr/>
        </p:nvSpPr>
        <p:spPr>
          <a:xfrm>
            <a:off x="889000" y="6070600"/>
            <a:ext cx="1041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通过状态机的严格约束与全链路时间戳记录，实现了订单流程的标准化、透明化与可追溯性，保障服务质量可控。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0000" b="1" i="0" u="none" strike="noStrike" kern="0" cap="none" spc="0" normalizeH="0" baseline="0" noProof="0" dirty="0">
                <a:ln>
                  <a:noFill/>
                </a:ln>
                <a:solidFill>
                  <a:srgbClr val="22C55E">
                    <a:alpha val="70196"/>
                  </a:srgbClr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461000" y="4445000"/>
            <a:ext cx="1270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080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系统架构与数据库总览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系统三层架构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270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22C55E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1905000"/>
            <a:ext cx="33782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2159000"/>
            <a:ext cx="457200" cy="4572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651000" y="21336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展现层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15211">
            <a:off x="1016014" y="29146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3175000"/>
            <a:ext cx="28702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Web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管理后台和大屏构建统一入口，覆盖用户端、骑手端与管理后台；集成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ECharts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实现业务指标的实时可视化监控，直观呈现核心数据。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406900" y="1905000"/>
            <a:ext cx="33782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60900" y="2159000"/>
            <a:ext cx="457200" cy="4572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5295900" y="21336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业务逻辑层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3" name="Connector 13"/>
          <p:cNvCxnSpPr/>
          <p:nvPr/>
        </p:nvCxnSpPr>
        <p:spPr>
          <a:xfrm rot="-15211">
            <a:off x="4660914" y="29146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4660900" y="3175000"/>
            <a:ext cx="28702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以Python Flask框架搭建RESTful API，承载订单处理、骑手智能调度等核心业务；集成DeepSeek AI能力实现Text-to-SQL，赋能业务智能化决策。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051800" y="1905000"/>
            <a:ext cx="33782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05800" y="2159000"/>
            <a:ext cx="457200" cy="4572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940800" y="21336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数据访问层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" name="Connector 18"/>
          <p:cNvCxnSpPr/>
          <p:nvPr/>
        </p:nvCxnSpPr>
        <p:spPr>
          <a:xfrm rot="-15211">
            <a:off x="8305814" y="29146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8305800" y="3175000"/>
            <a:ext cx="28702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采用MySQL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8.0作为核心关系型数据库，负责全量业务数据的持久化存储；通过优化的索引设计与查询策略，保障数据的高效检索与稳定吞吐。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762000" y="5842000"/>
            <a:ext cx="10668000" cy="635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952500" y="5943600"/>
            <a:ext cx="1028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架构优势：分层解耦设计确保系统高内聚低耦合，提升了开发效率与维护性，同时AI能力的融入为业务增长提供了智能化支撑。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技术栈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29" name="组合 28"/>
          <p:cNvGrpSpPr/>
          <p:nvPr/>
        </p:nvGrpSpPr>
        <p:grpSpPr>
          <a:xfrm>
            <a:off x="6410325" y="1517075"/>
            <a:ext cx="5207000" cy="1530000"/>
            <a:chOff x="762000" y="1905000"/>
            <a:chExt cx="5207000" cy="1905000"/>
          </a:xfrm>
        </p:grpSpPr>
        <p:sp>
          <p:nvSpPr>
            <p:cNvPr id="4" name="AutoShape 4"/>
            <p:cNvSpPr/>
            <p:nvPr/>
          </p:nvSpPr>
          <p:spPr>
            <a:xfrm>
              <a:off x="762000" y="1905000"/>
              <a:ext cx="5207000" cy="1905000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70000"/>
              </a:srgbClr>
            </a:solidFill>
            <a:ln w="12700" cap="flat" cmpd="sng">
              <a:solidFill>
                <a:srgbClr val="22C55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5" name="Picture 5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16000" y="2159000"/>
              <a:ext cx="457200" cy="457200"/>
            </a:xfrm>
            <a:prstGeom prst="rect">
              <a:avLst/>
            </a:prstGeom>
          </p:spPr>
        </p:pic>
        <p:sp>
          <p:nvSpPr>
            <p:cNvPr id="6" name="AutoShape 6"/>
            <p:cNvSpPr/>
            <p:nvPr/>
          </p:nvSpPr>
          <p:spPr>
            <a:xfrm>
              <a:off x="1778000" y="2159000"/>
              <a:ext cx="3810000" cy="381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20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1F2937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后端框架：Flask</a:t>
              </a:r>
              <a:endPara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cxnSp>
          <p:nvCxnSpPr>
            <p:cNvPr id="7" name="Connector 7"/>
            <p:cNvCxnSpPr/>
            <p:nvPr/>
          </p:nvCxnSpPr>
          <p:spPr>
            <a:xfrm rot="-9291">
              <a:off x="1016009" y="2787650"/>
              <a:ext cx="4699000" cy="12700"/>
            </a:xfrm>
            <a:prstGeom prst="straightConnector1">
              <a:avLst/>
            </a:prstGeom>
            <a:solidFill>
              <a:srgbClr val="DEE0E3">
                <a:alpha val="100000"/>
              </a:srgbClr>
            </a:solidFill>
            <a:ln w="12700" cap="flat" cmpd="sng">
              <a:solidFill>
                <a:srgbClr val="22C55E">
                  <a:alpha val="2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" name="AutoShape 8"/>
            <p:cNvSpPr/>
            <p:nvPr/>
          </p:nvSpPr>
          <p:spPr>
            <a:xfrm>
              <a:off x="1016000" y="2984500"/>
              <a:ext cx="4699000" cy="762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14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采用轻量级微框架设计</a:t>
              </a: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，</a:t>
              </a:r>
              <a:r>
                <a:rPr kumimoji="0" lang="en-US" sz="14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适合项目的快速开发</a:t>
              </a:r>
              <a:r>
                <a:rPr lang="zh-CN" altLang="en-US" sz="1400" kern="0" dirty="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。</a:t>
              </a:r>
              <a:endPara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9" name="AutoShape 9"/>
          <p:cNvSpPr/>
          <p:nvPr/>
        </p:nvSpPr>
        <p:spPr>
          <a:xfrm>
            <a:off x="762000" y="1511300"/>
            <a:ext cx="5019677" cy="459105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1050" y="1895475"/>
            <a:ext cx="457200" cy="4572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743050" y="1895475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数据库：MySQL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8.0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2" name="Connector 12"/>
          <p:cNvCxnSpPr/>
          <p:nvPr/>
        </p:nvCxnSpPr>
        <p:spPr>
          <a:xfrm rot="-9291">
            <a:off x="981059" y="2524125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922019" y="360553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选择性能稳定、生态完善的MySQL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8.0版本，全面支持窗口函数、公用表表达式(CTE)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等高级SQL特性，保障数据处理的高效与安全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31" name="组合 30"/>
          <p:cNvGrpSpPr/>
          <p:nvPr/>
        </p:nvGrpSpPr>
        <p:grpSpPr>
          <a:xfrm>
            <a:off x="6410325" y="3034150"/>
            <a:ext cx="5207000" cy="1530000"/>
            <a:chOff x="6604000" y="2089150"/>
            <a:chExt cx="5207000" cy="1905000"/>
          </a:xfrm>
        </p:grpSpPr>
        <p:sp>
          <p:nvSpPr>
            <p:cNvPr id="14" name="AutoShape 14"/>
            <p:cNvSpPr/>
            <p:nvPr/>
          </p:nvSpPr>
          <p:spPr>
            <a:xfrm>
              <a:off x="6604000" y="2089150"/>
              <a:ext cx="5207000" cy="1905000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70000"/>
              </a:srgbClr>
            </a:solidFill>
            <a:ln w="12700" cap="flat" cmpd="sng">
              <a:solidFill>
                <a:srgbClr val="22C55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15" name="Picture 15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58000" y="2343150"/>
              <a:ext cx="457200" cy="457200"/>
            </a:xfrm>
            <a:prstGeom prst="rect">
              <a:avLst/>
            </a:prstGeom>
          </p:spPr>
        </p:pic>
        <p:sp>
          <p:nvSpPr>
            <p:cNvPr id="16" name="AutoShape 16"/>
            <p:cNvSpPr/>
            <p:nvPr/>
          </p:nvSpPr>
          <p:spPr>
            <a:xfrm>
              <a:off x="7620000" y="2343150"/>
              <a:ext cx="3810000" cy="381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20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1F2937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可视化：ECharts</a:t>
              </a:r>
              <a:endPara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cxnSp>
          <p:nvCxnSpPr>
            <p:cNvPr id="17" name="Connector 17"/>
            <p:cNvCxnSpPr/>
            <p:nvPr/>
          </p:nvCxnSpPr>
          <p:spPr>
            <a:xfrm rot="-9291">
              <a:off x="6858009" y="2971800"/>
              <a:ext cx="4699000" cy="12700"/>
            </a:xfrm>
            <a:prstGeom prst="straightConnector1">
              <a:avLst/>
            </a:prstGeom>
            <a:solidFill>
              <a:srgbClr val="DEE0E3">
                <a:alpha val="100000"/>
              </a:srgbClr>
            </a:solidFill>
            <a:ln w="12700" cap="flat" cmpd="sng">
              <a:solidFill>
                <a:srgbClr val="22C55E">
                  <a:alpha val="2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8" name="AutoShape 18"/>
            <p:cNvSpPr/>
            <p:nvPr/>
          </p:nvSpPr>
          <p:spPr>
            <a:xfrm>
              <a:off x="6858000" y="3105150"/>
              <a:ext cx="4699000" cy="762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14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采用ECharts图表库，高效构建管理后台的数据可视化大屏，支持折线、柱状、地图等多种图表，交互体验流畅</a:t>
              </a: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。</a:t>
              </a:r>
              <a:endPara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6410325" y="4578350"/>
            <a:ext cx="5207000" cy="1530000"/>
            <a:chOff x="6350000" y="4191000"/>
            <a:chExt cx="5207000" cy="1905000"/>
          </a:xfrm>
        </p:grpSpPr>
        <p:sp>
          <p:nvSpPr>
            <p:cNvPr id="19" name="AutoShape 19"/>
            <p:cNvSpPr/>
            <p:nvPr/>
          </p:nvSpPr>
          <p:spPr>
            <a:xfrm>
              <a:off x="6350000" y="4191000"/>
              <a:ext cx="5207000" cy="1905000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70000"/>
              </a:srgbClr>
            </a:solidFill>
            <a:ln w="12700" cap="flat" cmpd="sng">
              <a:solidFill>
                <a:srgbClr val="22C55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20" name="Picture 20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604000" y="4445000"/>
              <a:ext cx="457200" cy="457200"/>
            </a:xfrm>
            <a:prstGeom prst="rect">
              <a:avLst/>
            </a:prstGeom>
          </p:spPr>
        </p:pic>
        <p:sp>
          <p:nvSpPr>
            <p:cNvPr id="21" name="AutoShape 21"/>
            <p:cNvSpPr/>
            <p:nvPr/>
          </p:nvSpPr>
          <p:spPr>
            <a:xfrm>
              <a:off x="7366000" y="4445000"/>
              <a:ext cx="3810000" cy="381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20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1F2937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人工智能：</a:t>
              </a:r>
              <a:r>
                <a:rPr kumimoji="0" lang="en-US" altLang="zh-CN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1F2937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deepseek-v4</a:t>
              </a:r>
            </a:p>
          </p:txBody>
        </p:sp>
        <p:cxnSp>
          <p:nvCxnSpPr>
            <p:cNvPr id="22" name="Connector 22"/>
            <p:cNvCxnSpPr/>
            <p:nvPr/>
          </p:nvCxnSpPr>
          <p:spPr>
            <a:xfrm rot="-9291">
              <a:off x="6604009" y="5073650"/>
              <a:ext cx="4699000" cy="12700"/>
            </a:xfrm>
            <a:prstGeom prst="straightConnector1">
              <a:avLst/>
            </a:prstGeom>
            <a:solidFill>
              <a:srgbClr val="DEE0E3">
                <a:alpha val="100000"/>
              </a:srgbClr>
            </a:solidFill>
            <a:ln w="12700" cap="flat" cmpd="sng">
              <a:solidFill>
                <a:srgbClr val="22C55E">
                  <a:alpha val="2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3" name="AutoShape 23"/>
            <p:cNvSpPr/>
            <p:nvPr/>
          </p:nvSpPr>
          <p:spPr>
            <a:xfrm>
              <a:off x="6604000" y="5207000"/>
              <a:ext cx="4699000" cy="762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14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集成DeepSeek模型，赋能业务实现自然语言转SQL查询功能，降低数据检索的使用门槛</a:t>
              </a: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。</a:t>
              </a:r>
              <a:endPara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数据库E-R图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565150" y="55880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系统数据表结构全景视图，通过标准化的实体关系设计，构建了稳定、高效、可扩展的底层数据架构，确保业务逻辑的清晰映射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Connector 6"/>
          <p:cNvCxnSpPr/>
          <p:nvPr/>
        </p:nvCxnSpPr>
        <p:spPr>
          <a:xfrm rot="5390708">
            <a:off x="3873500" y="3994159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6477000" y="1651000"/>
            <a:ext cx="50800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477000" y="1651000"/>
            <a:ext cx="508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667500" y="1778000"/>
            <a:ext cx="4762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遵循第三范式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(3NF)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系统共设计7张核心数据表，保证数据的一致性与完整性，为业务迭代提供稳固的底层支撑。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6477000" y="3175000"/>
            <a:ext cx="5080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67500" y="33020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112000" y="3302000"/>
            <a:ext cx="431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七大核心实体全覆盖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3" name="Connector 13"/>
          <p:cNvCxnSpPr/>
          <p:nvPr/>
        </p:nvCxnSpPr>
        <p:spPr>
          <a:xfrm rot="-9291">
            <a:off x="6667500" y="37528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B5563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6667491" y="3886200"/>
            <a:ext cx="4762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涵盖用户、商家、菜品、寄存点、骑手、订单、订单明细七大核心业务实体，全面映射真实业务场景，确保数据模型与业务逻辑高度契合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6477000" y="4889500"/>
            <a:ext cx="24765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04000" y="5016500"/>
            <a:ext cx="279400" cy="279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6985000" y="5016500"/>
            <a:ext cx="18415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一对多映射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" name="Connector 18"/>
          <p:cNvCxnSpPr/>
          <p:nvPr/>
        </p:nvCxnSpPr>
        <p:spPr>
          <a:xfrm rot="-19644">
            <a:off x="6604018" y="5454650"/>
            <a:ext cx="222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B5563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6604000" y="5588000"/>
            <a:ext cx="2222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商家与菜品、订单与订单明细建立层级关系，精准反映业务中的包含与归属逻辑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9080500" y="4889500"/>
            <a:ext cx="24765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7500" y="5016500"/>
            <a:ext cx="279400" cy="279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9588500" y="5016500"/>
            <a:ext cx="18415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多对多协同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3" name="Connector 23"/>
          <p:cNvCxnSpPr/>
          <p:nvPr/>
        </p:nvCxnSpPr>
        <p:spPr>
          <a:xfrm rot="-19644">
            <a:off x="9207518" y="5454650"/>
            <a:ext cx="222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B5563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9207500" y="5588000"/>
            <a:ext cx="2222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订单与骑手通过双外键机制实现灵活的任务分配与协作，适配复杂的配送调度场景。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793" y="1556575"/>
            <a:ext cx="5766015" cy="3879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lvl="0" algn="ctr">
              <a:lnSpc>
                <a:spcPct val="125000"/>
              </a:lnSpc>
              <a:buClr>
                <a:srgbClr val="000000"/>
              </a:buClr>
              <a:defRPr/>
            </a:pPr>
            <a:r>
              <a:rPr lang="en-US" altLang="zh-CN" sz="10000" b="1" kern="0" dirty="0">
                <a:solidFill>
                  <a:srgbClr val="22C55E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461000" y="4445000"/>
            <a:ext cx="1270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080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en-US" sz="4000" b="1" kern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核心表结构详解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核心表结构：学生用户表 </a:t>
            </a: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(users)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6858000" cy="330200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25400" cap="flat" cmpd="sng">
            <a:solidFill>
              <a:srgbClr val="22C55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2375535"/>
            <a:ext cx="6350000" cy="24860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 TABLE users (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user_id INT AUTO_INCREMENT PRIMARY KEY,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username VARCHAR(50)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phone VARCHAR(20) NOT NULL UNIQUE,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dorm_building VARCHAR(20)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room_number VARCHAR(10)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balance DECIMAL(10,2) DEFAULT 100.00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(balance &gt;= 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created_at TIMESTAMP DEFAULT CURRENT_TIMESTAMP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);</a:t>
            </a:r>
            <a:endParaRPr kumimoji="0" lang="en-US" sz="1300" b="0" i="0" u="none" strike="noStrike" kern="0" cap="none" spc="0" normalizeH="0" baseline="0" noProof="0" dirty="0">
              <a:ln>
                <a:noFill/>
              </a:ln>
              <a:solidFill>
                <a:srgbClr val="D1D5DB"/>
              </a:solidFill>
              <a:effectLst/>
              <a:uLnTx/>
              <a:uFillTx/>
              <a:latin typeface="Roboto Mono" panose="00000009000000000000" pitchFamily="49" charset="0"/>
              <a:ea typeface="Menlo"/>
              <a:cs typeface="Menlo"/>
              <a:sym typeface="Menlo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8001000" y="1651000"/>
            <a:ext cx="3429000" cy="330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191500" y="1841500"/>
            <a:ext cx="3048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核心约束与设计要点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524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余额硬约束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CHECK (balance &gt;= 0)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从数据库层杜绝负余额，即使应用层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bug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也无法写入非法数据。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3815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524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165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唯一手机号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phone UNIQUE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索引保证账号唯一性，同时加速手机号登录查询。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001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524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636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宿舍精准定位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dorm_building + room_number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精准定位，为楼栋骑手末端配送提供地址数据支撑。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8"/>
          <p:cNvCxnSpPr/>
          <p:nvPr/>
        </p:nvCxnSpPr>
        <p:spPr>
          <a:xfrm>
            <a:off x="571500" y="2287612"/>
            <a:ext cx="7048500" cy="12358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核心表结构：骑手表 (riders)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588000" cy="2794000"/>
          </a:xfrm>
          <a:prstGeom prst="roundRect">
            <a:avLst>
              <a:gd name="adj" fmla="val 0"/>
            </a:avLst>
          </a:prstGeom>
          <a:solidFill>
            <a:srgbClr val="1F2937">
              <a:alpha val="90000"/>
            </a:srgbClr>
          </a:solidFill>
          <a:ln w="25400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52500" y="2412365"/>
            <a:ext cx="5207000" cy="21602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CREATE TABLE riders (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 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rider_id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 INT PRIMARY KEY AUTO_INCREMENT,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 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rider_type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 ENUM('Stage1_Trunk', 'Stage2_Floor')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  status ENUM('Idle', 'Delivering', 'Offline') DEFAULT 'Idle'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);</a:t>
            </a:r>
          </a:p>
        </p:txBody>
      </p:sp>
      <p:sp>
        <p:nvSpPr>
          <p:cNvPr id="6" name="AutoShape 6"/>
          <p:cNvSpPr/>
          <p:nvPr/>
        </p:nvSpPr>
        <p:spPr>
          <a:xfrm>
            <a:off x="762000" y="5080000"/>
            <a:ext cx="5588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952500" y="5207000"/>
            <a:ext cx="520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该表通过</a:t>
            </a: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rider_type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实现干线与楼栋骑手的层级区分，利用</a:t>
            </a: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status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字段实时管控骑手工作状态，为订单智能分配与调度系统提供核心数据支撑。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rcRect t="4094" b="4094"/>
          <a:stretch>
            <a:fillRect/>
          </a:stretch>
        </p:blipFill>
        <p:spPr>
          <a:xfrm>
            <a:off x="6858000" y="1778000"/>
            <a:ext cx="4572000" cy="279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6858000" y="5080000"/>
            <a:ext cx="2222500" cy="1143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0" y="52070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366000" y="5207000"/>
            <a:ext cx="1587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类型分级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区分干线与楼栋骑手，明确配送职责边界，优化运力结构。</a:t>
            </a:r>
          </a:p>
        </p:txBody>
      </p:sp>
      <p:sp>
        <p:nvSpPr>
          <p:cNvPr id="12" name="AutoShape 12"/>
          <p:cNvSpPr/>
          <p:nvPr/>
        </p:nvSpPr>
        <p:spPr>
          <a:xfrm>
            <a:off x="9207500" y="5080000"/>
            <a:ext cx="2222500" cy="1143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34500" y="52070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9715500" y="5207000"/>
            <a:ext cx="1587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状态管控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实时同步Idle、Delivering、Offline状态，保障调度准确性。</a:t>
            </a:r>
          </a:p>
        </p:txBody>
      </p:sp>
      <p:sp>
        <p:nvSpPr>
          <p:cNvPr id="15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" name="Connector 8"/>
          <p:cNvCxnSpPr/>
          <p:nvPr/>
        </p:nvCxnSpPr>
        <p:spPr>
          <a:xfrm>
            <a:off x="762000" y="2412999"/>
            <a:ext cx="5518727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核心表结构：商家表 </a:t>
            </a: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merchants)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6858000" cy="330200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25400" cap="flat" cmpd="sng">
            <a:solidFill>
              <a:srgbClr val="22C55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60450" y="2355215"/>
            <a:ext cx="6305550" cy="24707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 TABLE merchants (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AUTO_INCREMENT PRIMARY KEY,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merchant_name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VARCHAR(100)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phone VARCHAR(20)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address VARCHAR(200)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rating DECIMAL(2,1) DEFAULT 5.0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(rating &gt;= 1.0 AND rating &lt;= 5.0),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created_at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TIMESTAMP DEFAULT CURRENT_TIMESTAMP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);</a:t>
            </a:r>
          </a:p>
        </p:txBody>
      </p:sp>
      <p:sp>
        <p:nvSpPr>
          <p:cNvPr id="6" name="AutoShape 6"/>
          <p:cNvSpPr/>
          <p:nvPr/>
        </p:nvSpPr>
        <p:spPr>
          <a:xfrm>
            <a:off x="8001000" y="1651000"/>
            <a:ext cx="3429000" cy="330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191500" y="1841500"/>
            <a:ext cx="3048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核心约束与设计要点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524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评分约束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CHECK (rating BETWEEN 1.0 AND 5.0)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从数据库引擎层保证评分合法性，杜绝异常数据。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3815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524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165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档口定位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address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字段存储具体档口（如丁香餐厅二楼），为干线骑手取餐提供精确导航。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001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524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636000" y="5422900"/>
            <a:ext cx="2667000" cy="7740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外键保护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merchant_id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被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dishes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和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orders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表引用，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RESTRICT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策略防止误删有订单的商家。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8"/>
          <p:cNvCxnSpPr/>
          <p:nvPr/>
        </p:nvCxnSpPr>
        <p:spPr>
          <a:xfrm>
            <a:off x="571500" y="2299042"/>
            <a:ext cx="7048500" cy="12358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核心表结构：菜品表 </a:t>
            </a: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dishes)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825500" y="1299845"/>
            <a:ext cx="6858000" cy="377698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25400" cap="flat" cmpd="sng">
            <a:solidFill>
              <a:srgbClr val="22C55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52500" y="1908810"/>
            <a:ext cx="6350000" cy="31203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 TABLE dishes (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dish_id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AUTO_INCREMENT PRIMARY KEY,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dish_name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VARCHAR(100)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price DECIMAL(8,2) NOT NULL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(price &gt; 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stock INT NOT NULL DEFAULT 0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(stock &gt;= 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status TINYINT DEFAULT 1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(status IN (0, 1)),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FOREIGN KEY 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REFERENCES merchants(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));</a:t>
            </a:r>
          </a:p>
        </p:txBody>
      </p:sp>
      <p:sp>
        <p:nvSpPr>
          <p:cNvPr id="6" name="AutoShape 6"/>
          <p:cNvSpPr/>
          <p:nvPr/>
        </p:nvSpPr>
        <p:spPr>
          <a:xfrm>
            <a:off x="8001000" y="1651000"/>
            <a:ext cx="3429000" cy="3486492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191500" y="1841500"/>
            <a:ext cx="3048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核心约束与设计要点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524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库存字段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stock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是防超卖的核心战场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每次下单前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FOR UPDATE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锁行、校验、扣减，三步原子化。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3815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524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165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上下架控制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status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字段配合触发器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trg_check_dish_stock，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下架菜品无法下单。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001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524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636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价格快照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price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是菜品当前售价；下单时通过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price_at_order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记录快照价，防止改价影响历史订单。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7"/>
          <p:cNvSpPr/>
          <p:nvPr/>
        </p:nvSpPr>
        <p:spPr>
          <a:xfrm>
            <a:off x="1600200" y="1546860"/>
            <a:ext cx="152400" cy="1651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6"/>
          <p:cNvSpPr/>
          <p:nvPr/>
        </p:nvSpPr>
        <p:spPr>
          <a:xfrm>
            <a:off x="1282700" y="1546860"/>
            <a:ext cx="152400" cy="1651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5"/>
          <p:cNvSpPr/>
          <p:nvPr/>
        </p:nvSpPr>
        <p:spPr>
          <a:xfrm>
            <a:off x="965200" y="1546860"/>
            <a:ext cx="152400" cy="1651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8"/>
          <p:cNvCxnSpPr/>
          <p:nvPr/>
        </p:nvCxnSpPr>
        <p:spPr>
          <a:xfrm>
            <a:off x="635000" y="1907882"/>
            <a:ext cx="7048500" cy="12358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核心表结构：订单表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(orders)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6858000" cy="330200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25400" cap="flat" cmpd="sng">
            <a:solidFill>
              <a:srgbClr val="22C55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2121535"/>
            <a:ext cx="6350000" cy="26409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Menlo"/>
                <a:cs typeface="Menlo"/>
                <a:sym typeface="Menlo"/>
              </a:rPr>
              <a:t>CREATE TABLE orders (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INT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PRIMARY KEY AUTO_INCREMENT,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order_status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ENUM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('Paid', 'Stage1_Assigned', '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Arrived_At_Point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', 'Stage2_Assigned', 'Completed', 'Cancelled'),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stage1_rider_id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INT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, stage2_rider_id INT, 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created_at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TIMESTAMP, stage1_completed_at TIMESTAMP, stage2_completed_at TIMESTAMP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);</a:t>
            </a:r>
          </a:p>
        </p:txBody>
      </p:sp>
      <p:sp>
        <p:nvSpPr>
          <p:cNvPr id="6" name="AutoShape 6"/>
          <p:cNvSpPr/>
          <p:nvPr/>
        </p:nvSpPr>
        <p:spPr>
          <a:xfrm>
            <a:off x="8001000" y="1651000"/>
            <a:ext cx="3429000" cy="330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191500" y="1841500"/>
            <a:ext cx="3048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设计理念核心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表作为系统的数据中枢，采用扁平化结构存储核心业务字段。通过枚举类型约束状态流转，分字段管理干线与楼栋骑手的权责，配合多时间戳记录关键节点，构建了兼顾查询性能与数据完整性的稳健模型，为全链路业务审计提供了坚实基础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762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524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状态机驱动全流程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 `order_status` 枚举值精准控制订单流转，确保状态变更的一致性与业务逻辑的闭环。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43815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524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165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双阶段骑手权责分离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拆分 `stage1/2_rider_id` 字段，明确干线运输与楼栋配送的职责边界，实现运力精细化调度。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8001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524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636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全节点时间戳留痕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完整记录订单创建及各阶段完成时间，构建可追溯的时间轴，为时效分析与服务优化提供依据。</a:t>
            </a:r>
          </a:p>
        </p:txBody>
      </p:sp>
      <p:sp>
        <p:nvSpPr>
          <p:cNvPr id="17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8"/>
          <p:cNvCxnSpPr/>
          <p:nvPr/>
        </p:nvCxnSpPr>
        <p:spPr>
          <a:xfrm>
            <a:off x="571500" y="2299042"/>
            <a:ext cx="7048500" cy="12358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核心表结构：订单明细表 </a:t>
            </a: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order_items)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825500" y="1473200"/>
            <a:ext cx="6858000" cy="353695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25400" cap="flat" cmpd="sng">
            <a:solidFill>
              <a:srgbClr val="22C55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129665" y="2089785"/>
            <a:ext cx="6115685" cy="279971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 TABLE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order_items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(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item_id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AUTO_INCREMENT PRIMARY KEY,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dish_id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quantity INT NOT NULL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(quantity &gt; 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price_at_order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DECIMAL(8,2)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FOREIGN KEY 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REFERENCES orders(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ON DELETE CASCADE,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FOREIGN KEY 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dish_id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REFERENCES dishes(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dish_id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));</a:t>
            </a:r>
          </a:p>
        </p:txBody>
      </p:sp>
      <p:sp>
        <p:nvSpPr>
          <p:cNvPr id="6" name="AutoShape 6"/>
          <p:cNvSpPr/>
          <p:nvPr/>
        </p:nvSpPr>
        <p:spPr>
          <a:xfrm>
            <a:off x="8001000" y="1651000"/>
            <a:ext cx="3429000" cy="330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191500" y="1841500"/>
            <a:ext cx="3048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核心约束与设计要点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524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价格快照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price_at_order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是下单瞬间的价格副本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电商系统的标准实践，保证历史订单的金额可追溯。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3815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524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165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级联删除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ON DELETE CASCADE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：订单取消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删除时，明细自动清理，无需应用层逐条删除。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001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524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636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触发器挂载点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BEFORE INSERT ON order_items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是库存防超卖触发器的挂载点。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7"/>
          <p:cNvSpPr/>
          <p:nvPr/>
        </p:nvSpPr>
        <p:spPr>
          <a:xfrm>
            <a:off x="1651000" y="16891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6"/>
          <p:cNvSpPr/>
          <p:nvPr/>
        </p:nvSpPr>
        <p:spPr>
          <a:xfrm>
            <a:off x="1333500" y="16891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5"/>
          <p:cNvSpPr/>
          <p:nvPr/>
        </p:nvSpPr>
        <p:spPr>
          <a:xfrm>
            <a:off x="1016000" y="16891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8"/>
          <p:cNvCxnSpPr/>
          <p:nvPr/>
        </p:nvCxnSpPr>
        <p:spPr>
          <a:xfrm>
            <a:off x="539750" y="1998687"/>
            <a:ext cx="7080250" cy="28575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核心表结构：寄存点表 (pickup_points)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9614535" cy="3302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8575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flipV="1">
            <a:off x="762000" y="2373618"/>
            <a:ext cx="9611955" cy="39381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603500"/>
            <a:ext cx="10160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Menlo"/>
                <a:cs typeface="Menlo"/>
                <a:sym typeface="Menlo"/>
              </a:rPr>
              <a:t>CREATE TABLE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/>
                <a:ea typeface="Menlo"/>
                <a:cs typeface="Menlo"/>
                <a:sym typeface="Menlo"/>
              </a:rPr>
              <a:t>pickup_points (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point_id INT PRIMARY KEY AUTO_INCREMENT,   point_name VARCHAR(50) NOT NULL,   location VARCHAR(200) NOT NULL,   capacity INT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current_packages INT DEFAULT 0 CHECK (current_packages &gt;= 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CONSTRAINT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chk_capacity CHECK (current_packages &lt;= capacity)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);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62000" y="5461000"/>
            <a:ext cx="10668000" cy="1016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12700" cap="flat" cmpd="sng">
            <a:solidFill>
              <a:srgbClr val="22C55E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5651500"/>
            <a:ext cx="609600" cy="609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905000" y="5562600"/>
            <a:ext cx="9271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核心约束机制：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 `CHECK (current_packages &lt;= capacity)` 建立数据库层面的硬性限制，确保寄存点的实时包裹量永远不会突破物理容积上限，这是保障系统数据一致性、防止业务逻辑漏洞导致“虚拟爆仓”的关键防线。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286000"/>
            <a:ext cx="12192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0" b="1" i="0" u="none" strike="noStrike" kern="0" cap="none" spc="0" normalizeH="0" baseline="0" noProof="0">
                <a:ln>
                  <a:noFill/>
                </a:ln>
                <a:solidFill>
                  <a:srgbClr val="22C55E">
                    <a:alpha val="80000"/>
                  </a:srgbClr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318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4826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索引策略与性能优化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4个B-Tree索引总览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70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76200" cy="209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1841500"/>
            <a:ext cx="304800" cy="304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460500" y="1803400"/>
            <a:ext cx="4381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高频状态筛选加速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9167">
            <a:off x="1016008" y="2343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540000"/>
            <a:ext cx="4762500" cy="76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1143000" y="26035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INDEX idx_orders_status ON orders(order_status);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针对大屏最高频的订单状态筛选场景，建立单列索引，显著降低筛选耗时。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6286500" y="1651000"/>
            <a:ext cx="5270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286500" y="1651000"/>
            <a:ext cx="76200" cy="209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40500" y="18415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985000" y="1803400"/>
            <a:ext cx="4381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时间范围查询优化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5" name="Connector 15"/>
          <p:cNvCxnSpPr/>
          <p:nvPr/>
        </p:nvCxnSpPr>
        <p:spPr>
          <a:xfrm rot="-9167">
            <a:off x="6540508" y="2343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6540500" y="2540000"/>
            <a:ext cx="4762500" cy="76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667500" y="26035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INDEX idx_orders_created ON orders(created_at);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覆盖今日、近7天、近30天等核心时间范围查询，大幅提升历史数据检索效率。</a:t>
            </a:r>
          </a:p>
        </p:txBody>
      </p:sp>
      <p:sp>
        <p:nvSpPr>
          <p:cNvPr id="18" name="AutoShape 18"/>
          <p:cNvSpPr/>
          <p:nvPr/>
        </p:nvSpPr>
        <p:spPr>
          <a:xfrm>
            <a:off x="762000" y="4191000"/>
            <a:ext cx="5270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762000" y="4191000"/>
            <a:ext cx="76200" cy="209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3815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460500" y="4343400"/>
            <a:ext cx="4381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商家在售菜品快速检索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2" name="Connector 22"/>
          <p:cNvCxnSpPr/>
          <p:nvPr/>
        </p:nvCxnSpPr>
        <p:spPr>
          <a:xfrm rot="-9167">
            <a:off x="1016008" y="4883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1016000" y="5080000"/>
            <a:ext cx="4762500" cy="76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1143000" y="51435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INDEX idx_dishes_merchant ON dishes(merchant_id, status);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利用复合索引的最左前缀原则，精准定位特定商家的在售菜品，减少无效扫描。</a:t>
            </a:r>
          </a:p>
        </p:txBody>
      </p:sp>
      <p:sp>
        <p:nvSpPr>
          <p:cNvPr id="25" name="AutoShape 25"/>
          <p:cNvSpPr/>
          <p:nvPr/>
        </p:nvSpPr>
        <p:spPr>
          <a:xfrm>
            <a:off x="6286500" y="4191000"/>
            <a:ext cx="5270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6286500" y="4191000"/>
            <a:ext cx="76200" cy="209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40500" y="4381500"/>
            <a:ext cx="304800" cy="3048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6985000" y="4343400"/>
            <a:ext cx="4381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覆盖查询避免回表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9" name="Connector 29"/>
          <p:cNvCxnSpPr/>
          <p:nvPr/>
        </p:nvCxnSpPr>
        <p:spPr>
          <a:xfrm rot="-9167">
            <a:off x="6540508" y="4883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0" name="AutoShape 30"/>
          <p:cNvSpPr/>
          <p:nvPr/>
        </p:nvSpPr>
        <p:spPr>
          <a:xfrm>
            <a:off x="6540500" y="5080000"/>
            <a:ext cx="4762500" cy="76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667500" y="51435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INDEX idx_orders_point_status ON orders(pickup_point_id, order_status);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针对容量检查与视图关联查询场景设计，包含查询所需全部字段，实现索引覆盖。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286000"/>
            <a:ext cx="12192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0" b="1" i="0" u="none" strike="noStrike" kern="0" cap="none" spc="0" normalizeH="0" baseline="0" noProof="0">
                <a:ln>
                  <a:noFill/>
                </a:ln>
                <a:solidFill>
                  <a:srgbClr val="22C55E">
                    <a:alpha val="80000"/>
                  </a:srgbClr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318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4826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en-US" sz="4000" b="1" kern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</a:t>
            </a:r>
            <a:r>
              <a:rPr lang="zh-CN" altLang="en-US" sz="4000" b="1" kern="0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触发器1&amp;2：库存防超卖与扣减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762000" y="1778000"/>
            <a:ext cx="5067299" cy="42418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1016000" y="1968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库存检查 (BEFORE INSERT)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Connector 6"/>
          <p:cNvCxnSpPr/>
          <p:nvPr>
            <p:custDataLst>
              <p:tags r:id="rId3"/>
            </p:custDataLst>
          </p:nvPr>
        </p:nvCxnSpPr>
        <p:spPr>
          <a:xfrm rot="-9291">
            <a:off x="1016009" y="2470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>
            <p:custDataLst>
              <p:tags r:id="rId4"/>
            </p:custDataLst>
          </p:nvPr>
        </p:nvSpPr>
        <p:spPr>
          <a:xfrm>
            <a:off x="1016000" y="2667000"/>
            <a:ext cx="4699000" cy="1905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31750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>
            <p:custDataLst>
              <p:tags r:id="rId5"/>
            </p:custDataLst>
          </p:nvPr>
        </p:nvSpPr>
        <p:spPr>
          <a:xfrm>
            <a:off x="1143000" y="2794000"/>
            <a:ext cx="4445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Menlo"/>
                <a:cs typeface="Menlo"/>
                <a:sym typeface="Menlo"/>
              </a:rPr>
              <a:t>CREATE TRIGGER trg_check_dish_stock_before_order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BEFORE INSERT ON order_items FOR EACH ROW BEGIN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DECLARE v_stock INT; SELECT stock INTO v_stock FROM dishes WHERE dish_id = NEW.dish_id FOR UPDATE;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IF v_stock &lt; NEW.quantity THEN SIGNAL SQLSTATE '45000' SET MESSAGE_TEXT = '库存不足'; END IF; END;</a:t>
            </a:r>
          </a:p>
        </p:txBody>
      </p:sp>
      <p:sp>
        <p:nvSpPr>
          <p:cNvPr id="9" name="AutoShape 9"/>
          <p:cNvSpPr/>
          <p:nvPr>
            <p:custDataLst>
              <p:tags r:id="rId6"/>
            </p:custDataLst>
          </p:nvPr>
        </p:nvSpPr>
        <p:spPr>
          <a:xfrm>
            <a:off x="1016000" y="50800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核心逻辑：在插入订单明细前，通过行级锁（FOR UPDATE）锁定菜品库存行，若库存不足则主动抛出异常，从业务源头直接阻断超卖风险。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0" name="Connector 10"/>
          <p:cNvCxnSpPr/>
          <p:nvPr>
            <p:custDataLst>
              <p:tags r:id="rId7"/>
            </p:custDataLst>
          </p:nvPr>
        </p:nvCxnSpPr>
        <p:spPr>
          <a:xfrm rot="5388540">
            <a:off x="4191000" y="3803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>
            <p:custDataLst>
              <p:tags r:id="rId8"/>
            </p:custDataLst>
          </p:nvPr>
        </p:nvSpPr>
        <p:spPr>
          <a:xfrm>
            <a:off x="6108701" y="1777999"/>
            <a:ext cx="5321299" cy="4241799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>
            <p:custDataLst>
              <p:tags r:id="rId9"/>
            </p:custDataLst>
          </p:nvPr>
        </p:nvSpPr>
        <p:spPr>
          <a:xfrm>
            <a:off x="6477000" y="1968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库存扣减 (AFTER INSERT)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3" name="Connector 13"/>
          <p:cNvCxnSpPr/>
          <p:nvPr>
            <p:custDataLst>
              <p:tags r:id="rId10"/>
            </p:custDataLst>
          </p:nvPr>
        </p:nvCxnSpPr>
        <p:spPr>
          <a:xfrm rot="-9291">
            <a:off x="6477009" y="2470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>
            <p:custDataLst>
              <p:tags r:id="rId11"/>
            </p:custDataLst>
          </p:nvPr>
        </p:nvSpPr>
        <p:spPr>
          <a:xfrm>
            <a:off x="6477000" y="2667000"/>
            <a:ext cx="4699000" cy="1905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8575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>
            <p:custDataLst>
              <p:tags r:id="rId12"/>
            </p:custDataLst>
          </p:nvPr>
        </p:nvSpPr>
        <p:spPr>
          <a:xfrm>
            <a:off x="6604000" y="2794000"/>
            <a:ext cx="4445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Menlo"/>
                <a:cs typeface="Menlo"/>
                <a:sym typeface="Menlo"/>
              </a:rPr>
              <a:t>CREATE TRIGGER trg_reduce_dish_stock_after_order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AFTER INSERT ON order_items FOR EACH ROW BEGIN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UPDATE dishes SET stock = stock - NEW.quantity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WHERE dish_id = NEW.dish_id; END;</a:t>
            </a:r>
          </a:p>
        </p:txBody>
      </p:sp>
      <p:sp>
        <p:nvSpPr>
          <p:cNvPr id="16" name="AutoShape 16"/>
          <p:cNvSpPr/>
          <p:nvPr>
            <p:custDataLst>
              <p:tags r:id="rId13"/>
            </p:custDataLst>
          </p:nvPr>
        </p:nvSpPr>
        <p:spPr>
          <a:xfrm>
            <a:off x="6477000" y="50800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核心逻辑：在订单明细插入成功后，自动执行库存扣减操作。该触发器确保只有合法的订单（通过前置检查）才能触发库存变更，保障数据准确性。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762000" y="60960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762000" y="6096000"/>
            <a:ext cx="76200" cy="5080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1016000" y="6172200"/>
            <a:ext cx="1016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机制总结：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前置检查做“守门员”拦截无效请求，后置扣减做“执行者”完成变更，结合行级锁构建高并发下可靠的防超卖体系。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触发器3：寄存点容量预检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905000"/>
            <a:ext cx="45720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2159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87500" y="2159000"/>
            <a:ext cx="3492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核心防线：防止寄存点爆仓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7" name="Connector 7"/>
          <p:cNvCxnSpPr/>
          <p:nvPr/>
        </p:nvCxnSpPr>
        <p:spPr>
          <a:xfrm rot="-10742">
            <a:off x="1016010" y="2914650"/>
            <a:ext cx="406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3175000"/>
            <a:ext cx="4064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在订单创建前触发预检机制，实时锁定目标寄存点并查询其当前库存与最大容量。若库存达到上限，立即抛出“寄存点已满”的错误信号，阻断订单生成，从数据层面保障寄存系统的稳定性与可用性。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5715000"/>
            <a:ext cx="2222500" cy="635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9000" y="5854700"/>
            <a:ext cx="355600" cy="3556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33500" y="5816600"/>
            <a:ext cx="1587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数据层拦截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3111500" y="5715000"/>
            <a:ext cx="2222500" cy="635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38500" y="5854700"/>
            <a:ext cx="355600" cy="3556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3683000" y="5816600"/>
            <a:ext cx="1587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原子性校验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5969000" y="1905000"/>
            <a:ext cx="5461000" cy="4445000"/>
          </a:xfrm>
          <a:prstGeom prst="roundRect">
            <a:avLst>
              <a:gd name="adj" fmla="val 0"/>
            </a:avLst>
          </a:prstGeom>
          <a:solidFill>
            <a:srgbClr val="1F2937">
              <a:alpha val="90000"/>
            </a:srgbClr>
          </a:solidFill>
          <a:ln w="28575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159500" y="20447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413500" y="20447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667500" y="20447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159500" y="2667000"/>
            <a:ext cx="5080000" cy="342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TRIGGER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trg_check_pickup_point_capacity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BEFORE INSERT ON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orders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FOR EACH ROW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BEGIN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DECLARE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v_current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v_capacity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INT;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SELECT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current_packages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 capacity INTO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v_current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v_capacity</a:t>
            </a:r>
            <a:endParaRPr kumimoji="0" lang="en-US" sz="1300" b="0" i="0" u="none" strike="noStrike" kern="0" cap="none" spc="0" normalizeH="0" baseline="0" noProof="0" dirty="0">
              <a:ln>
                <a:noFill/>
              </a:ln>
              <a:solidFill>
                <a:srgbClr val="D1D5DB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FROM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pickup_points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WHERE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point_id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=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NEW.pickup_point_id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FOR UPDATE;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IF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v_current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&gt;=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v_capacity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THEN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SIGNAL SQLSTATE '45000' SET MESSAGE_TEXT = '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寄存点已满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';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END IF;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END;</a:t>
            </a:r>
          </a:p>
        </p:txBody>
      </p:sp>
      <p:cxnSp>
        <p:nvCxnSpPr>
          <p:cNvPr id="22" name="Connector 8"/>
          <p:cNvCxnSpPr/>
          <p:nvPr/>
        </p:nvCxnSpPr>
        <p:spPr>
          <a:xfrm flipV="1">
            <a:off x="6012180" y="2328544"/>
            <a:ext cx="5435600" cy="2286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3500" y="3810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zh-CN" altLang="en-US" sz="3200" b="1" kern="0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</a:t>
            </a:r>
            <a:r>
              <a:rPr lang="en-US" altLang="zh-CN" sz="3200" b="1" kern="0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4&amp;5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：骑手类型约束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770873" y="1778000"/>
            <a:ext cx="52705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952500" y="18288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INSERT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订单时校验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Connector 6"/>
          <p:cNvCxnSpPr/>
          <p:nvPr>
            <p:custDataLst>
              <p:tags r:id="rId3"/>
            </p:custDataLst>
          </p:nvPr>
        </p:nvCxnSpPr>
        <p:spPr>
          <a:xfrm rot="-8929">
            <a:off x="952508" y="2533650"/>
            <a:ext cx="488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>
            <p:custDataLst>
              <p:tags r:id="rId4"/>
            </p:custDataLst>
          </p:nvPr>
        </p:nvSpPr>
        <p:spPr>
          <a:xfrm>
            <a:off x="826770" y="2275205"/>
            <a:ext cx="5158740" cy="3121660"/>
          </a:xfrm>
          <a:prstGeom prst="roundRect">
            <a:avLst>
              <a:gd name="adj" fmla="val 0"/>
            </a:avLst>
          </a:prstGeom>
          <a:solidFill>
            <a:schemeClr val="bg2">
              <a:lumMod val="75000"/>
            </a:schemeClr>
          </a:solidFill>
          <a:ln w="25400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>
            <p:custDataLst>
              <p:tags r:id="rId5"/>
            </p:custDataLst>
          </p:nvPr>
        </p:nvSpPr>
        <p:spPr>
          <a:xfrm>
            <a:off x="1016000" y="2395855"/>
            <a:ext cx="4953000" cy="31286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CREATE TRIGGER trg_check_rider_type_before_insert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BEFORE INSERT ON orders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FOR EACH ROW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BEGIN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NEW.stage1_rider_id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NOT EXISTS (SELECT 1 FROM riders WHERE rider_id = NEW.stage1_rider_id AND rider_type = 'Stage1_Trunk')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SIGNAL SQLSTATE '45000' SET MESSAGE_TEXT = '指派失败：干线骑手(Stage1)必须是 Stage1_Trunk 类型！';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NEW.stage2_rider_id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NOT EXISTS (SELECT 1 FROM riders WHERE rider_id = NEW.stage2_rider_id AND rider_type = 'Stage2_Floor')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SIGNAL SQLSTATE '45000' SET MESSAGE_TEXT = '指派失败：楼栋骑手(Stage2)必须是 Stage2_Floor 类型！';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END$$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lang="zh-CN" altLang="zh-CN" sz="9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boto Mono" panose="00000009000000000000" pitchFamily="49" charset="0"/>
              <a:ea typeface="Roboto Mono" panose="00000009000000000000" pitchFamily="49" charset="0"/>
              <a:cs typeface="Roboto Mono"/>
              <a:sym typeface="Roboto Mono"/>
            </a:endParaRPr>
          </a:p>
        </p:txBody>
      </p:sp>
      <p:sp>
        <p:nvSpPr>
          <p:cNvPr id="9" name="AutoShape 9"/>
          <p:cNvSpPr/>
          <p:nvPr>
            <p:custDataLst>
              <p:tags r:id="rId6"/>
            </p:custDataLst>
          </p:nvPr>
        </p:nvSpPr>
        <p:spPr>
          <a:xfrm>
            <a:off x="6286500" y="1778000"/>
            <a:ext cx="52705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AutoShape 10"/>
          <p:cNvSpPr/>
          <p:nvPr>
            <p:custDataLst>
              <p:tags r:id="rId7"/>
            </p:custDataLst>
          </p:nvPr>
        </p:nvSpPr>
        <p:spPr>
          <a:xfrm>
            <a:off x="6477000" y="18288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UPDATE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订单时校验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1" name="Connector 11"/>
          <p:cNvCxnSpPr/>
          <p:nvPr>
            <p:custDataLst>
              <p:tags r:id="rId8"/>
            </p:custDataLst>
          </p:nvPr>
        </p:nvCxnSpPr>
        <p:spPr>
          <a:xfrm rot="-8929">
            <a:off x="6477008" y="2533650"/>
            <a:ext cx="488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>
            <p:custDataLst>
              <p:tags r:id="rId9"/>
            </p:custDataLst>
          </p:nvPr>
        </p:nvSpPr>
        <p:spPr>
          <a:xfrm>
            <a:off x="6362700" y="2275205"/>
            <a:ext cx="5133340" cy="3122295"/>
          </a:xfrm>
          <a:prstGeom prst="roundRect">
            <a:avLst>
              <a:gd name="adj" fmla="val 0"/>
            </a:avLst>
          </a:prstGeom>
          <a:solidFill>
            <a:schemeClr val="bg2">
              <a:lumMod val="75000"/>
            </a:schemeClr>
          </a:solidFill>
          <a:ln w="25400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AutoShape 13"/>
          <p:cNvSpPr/>
          <p:nvPr>
            <p:custDataLst>
              <p:tags r:id="rId10"/>
            </p:custDataLst>
          </p:nvPr>
        </p:nvSpPr>
        <p:spPr>
          <a:xfrm>
            <a:off x="6604000" y="2921000"/>
            <a:ext cx="46355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CREATE TRIGGER trg_check_rider_type_before_update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BEFORE UPDATE ON orders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FOR EACH ROW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BEGIN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NEW.stage1_rider_id IS NOT NULL AND (NEW.stage1_rider_id != OLD.stage1_rider_id OR OLD.stage1_rider_id IS NULL)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NOT EXISTS (SELECT 1 FROM riders WHERE rider_id = NEW.stage1_rider_id AND rider_type = 'Stage1_Trunk')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SIGNAL SQLSTATE '45000' SET MESSAGE_TEXT = '指派失败：干线骑手(Stage1)必须是 Stage1_Trunk 类型！';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NEW.stage2_rider_id IS NOT NULL AND (NEW.stage2_rider_id != OLD.stage2_rider_id OR OLD.stage2_rider_id IS NULL)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NOT EXISTS (SELECT 1 FROM riders WHERE rider_id = NEW.stage2_rider_id AND rider_type = 'Stage2_Floor')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SIGNAL SQLSTATE '45000' SET MESSAGE_TEXT = '指派失败：楼栋骑手(Stage2)必须是 Stage2_Floor 类型！';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END$$</a:t>
            </a:r>
          </a:p>
        </p:txBody>
      </p:sp>
      <p:sp>
        <p:nvSpPr>
          <p:cNvPr id="14" name="AutoShape 14"/>
          <p:cNvSpPr/>
          <p:nvPr/>
        </p:nvSpPr>
        <p:spPr>
          <a:xfrm>
            <a:off x="762000" y="5715000"/>
            <a:ext cx="10795000" cy="889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16000" y="60071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524000" y="5842000"/>
            <a:ext cx="965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在数据写入源头强制约束骑手类型，有效防止业务层逻辑疏漏导致的订单分配错误，保障干线与楼栋骑手职责边界清晰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76713" y="3175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3200" b="1" i="0" u="none" strike="noStrike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</a:t>
            </a:r>
            <a:r>
              <a:rPr lang="en-US" altLang="zh-CN" sz="3200" b="1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</a:t>
            </a:r>
            <a:r>
              <a:rPr lang="en-US" sz="3200" b="1" i="0" u="none" strike="noStrike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：骑手状态自动管理</a:t>
            </a:r>
            <a:r>
              <a:rPr lang="zh-CN" altLang="en-US" sz="3200" b="1" i="0" u="none" strike="noStrike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</a:t>
            </a:r>
            <a:r>
              <a:rPr lang="en-US" altLang="zh-CN" sz="3200" b="1" i="0" u="none" strike="noStrike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</a:t>
            </a:r>
            <a:r>
              <a:rPr lang="zh-CN" altLang="en-US" sz="3200" b="1" i="0" u="none" strike="noStrike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）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1999" y="1090973"/>
            <a:ext cx="10667999" cy="4294527"/>
          </a:xfrm>
          <a:prstGeom prst="roundRect">
            <a:avLst>
              <a:gd name="adj" fmla="val 3288"/>
            </a:avLst>
          </a:prstGeom>
          <a:solidFill>
            <a:srgbClr val="1F2937">
              <a:alpha val="94000"/>
            </a:srgbClr>
          </a:solidFill>
          <a:ln w="22225" cap="flat" cmpd="sng">
            <a:solidFill>
              <a:srgbClr val="22C55E">
                <a:alpha val="71000"/>
              </a:srgbClr>
            </a:solidFill>
            <a:prstDash val="solid"/>
            <a:bevel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952500" y="1143000"/>
            <a:ext cx="10424160" cy="419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CREATE TRIGGER trg_rider_delivering_update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AFTER UPDATE ON orders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FOR EACH ROW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BEGIN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-- 新指派干线骑手 → Delivering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NEW.stage1_rider_id IS NOT NULL AND (NEW.stage1_rider_id != OLD.stage1_rider_id OR OLD.stage1_rider_id IS NULL)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UPDATE riders SET status = 'Delivering' WHERE rider_id = NEW.stage1_rider_id;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-- 新指派楼栋骑手 → Delivering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NEW.stage2_rider_id IS NOT NULL AND (NEW.stage2_rider_id != OLD.stage2_rider_id OR OLD.stage2_rider_id IS NULL)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UPDATE riders SET status = 'Delivering' WHERE rider_id = NEW.stage2_rider_id;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-- Stage1 完成（Paid/Stage1_Assigned → Arrived_At_Point）→ 释放干线骑手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NEW.order_status = 'Arrived_At_Point' AND OLD.order_status IN ('Paid', 'Stage1_Assigned') AND OLD.stage1_rider_id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UPDATE riders SET status = 'Idle' WHERE rider_id = OLD.stage1_rider_id;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-- Stage2 完成 → 释放楼栋骑手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NEW.order_status = 'Completed' AND OLD.order_status != 'Completed' AND OLD.stage2_rider_id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UPDATE riders SET status = 'Idle' WHERE rider_id = OLD.stage2_rider_id;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-- 取消 → 释放所有骑手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NEW.order_status = 'Cancelled' AND OLD.order_status != 'Cancelled'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OLD.stage1_rider_id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UPDATE riders SET status = 'Idle' WHERE rider_id = OLD.stage1_rider_id;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OLD.stage2_rider_id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UPDATE riders SET status = 'Idle' WHERE rider_id = OLD.stage2_rider_id;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END$$</a:t>
            </a:r>
          </a:p>
        </p:txBody>
      </p:sp>
      <p:sp>
        <p:nvSpPr>
          <p:cNvPr id="11" name="AutoShape 11"/>
          <p:cNvSpPr/>
          <p:nvPr/>
        </p:nvSpPr>
        <p:spPr>
          <a:xfrm>
            <a:off x="762000" y="5461000"/>
            <a:ext cx="33782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651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460500" y="5588000"/>
            <a:ext cx="2540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状态自动重置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无需人工介入，订单状态变更时，系统毫秒级将骑手状态更新为“空闲”，即时回流运力池。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4406900" y="5461000"/>
            <a:ext cx="33782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7400" y="5651500"/>
            <a:ext cx="355600" cy="355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5105400" y="5588000"/>
            <a:ext cx="2540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全流程状态覆盖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逻辑覆盖干线送达、订单完成、订单取消三大关键节点，确保任何场景下骑手资源都能及时释放。</a:t>
            </a:r>
          </a:p>
        </p:txBody>
      </p:sp>
      <p:sp>
        <p:nvSpPr>
          <p:cNvPr id="17" name="AutoShape 17"/>
          <p:cNvSpPr/>
          <p:nvPr/>
        </p:nvSpPr>
        <p:spPr>
          <a:xfrm>
            <a:off x="8051800" y="5461000"/>
            <a:ext cx="33782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2300" y="5651500"/>
            <a:ext cx="355600" cy="3556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8750300" y="5588000"/>
            <a:ext cx="2540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精准资源匹配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区分干线与楼栋骑手，仅释放当前流程节点对应的骑手，避免误操作，保障调度逻辑严谨性。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2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触发器7：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骑手状态自动管理（</a:t>
            </a:r>
            <a:r>
              <a:rPr kumimoji="0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5715000"/>
            <a:ext cx="10668000" cy="635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9000" y="5854700"/>
            <a:ext cx="355600" cy="3556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33500" y="5816600"/>
            <a:ext cx="9349014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lvl="0">
              <a:lnSpc>
                <a:spcPct val="125000"/>
              </a:lnSpc>
              <a:buClr>
                <a:srgbClr val="000000"/>
              </a:buClr>
              <a:defRPr/>
            </a:pPr>
            <a:r>
              <a:rPr lang="zh-CN" altLang="zh-CN" sz="1400" dirty="0">
                <a:latin typeface="Noto Sans SC" panose="020B0200000000000000" charset="-122"/>
                <a:ea typeface="Noto Sans SC" panose="020B0200000000000000" charset="-122"/>
              </a:rPr>
              <a:t>当新订单插入并指派骑手时，自动将骑手状态更新为 Delivering，确保运力状态的初始化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683000" y="5816600"/>
            <a:ext cx="1587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1320800"/>
            <a:ext cx="10668000" cy="4292600"/>
          </a:xfrm>
          <a:prstGeom prst="roundRect">
            <a:avLst>
              <a:gd name="adj" fmla="val 0"/>
            </a:avLst>
          </a:prstGeom>
          <a:solidFill>
            <a:srgbClr val="1F2937">
              <a:alpha val="90000"/>
            </a:srgbClr>
          </a:solidFill>
          <a:ln w="25400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952500" y="1460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1206500" y="1460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1460500" y="1460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952500" y="1813560"/>
            <a:ext cx="9923780" cy="35807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CREATE TRIGGER trg_rider_delivering_insert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AFTER INSERT ON orders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FOR EACH ROW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BEGIN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IF NEW.stage1_rider_id IS NOT NULL AND NEW.order_status IN ('Paid', 'Stage1_Assigned') THEN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    UPDATE riders SET status = 'Delivering' WHERE rider_id = NEW.stage1_rider_id;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END IF;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IF NEW.stage2_rider_id IS NOT NULL AND NEW.order_status IN ('Arrived_At_Point', 'Stage2_Assigned') THEN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    UPDATE riders SET status = 'Delivering' WHERE rider_id = NEW.stage2_rider_id;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END IF;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END;</a:t>
            </a:r>
          </a:p>
        </p:txBody>
      </p:sp>
      <p:cxnSp>
        <p:nvCxnSpPr>
          <p:cNvPr id="4" name="Connector 8"/>
          <p:cNvCxnSpPr/>
          <p:nvPr/>
        </p:nvCxnSpPr>
        <p:spPr>
          <a:xfrm>
            <a:off x="750570" y="1768817"/>
            <a:ext cx="10666730" cy="3048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032000"/>
            <a:ext cx="12192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69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20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存储过程与事务管理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存储过程：sp_create_order（原子下单）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10668000" cy="2921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77800" cy="1778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20800" y="1968500"/>
            <a:ext cx="177800" cy="1778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25600" y="1968500"/>
            <a:ext cx="177800" cy="1778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4092">
            <a:off x="762004" y="240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513330"/>
            <a:ext cx="10160000" cy="19951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PROCEDURE sp_create_order(...)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BEGIN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DECLARE EXIT HANDLER FOR SQLEXCEPTION BEGIN ROLLBACK; RESIGNAL; END; -- 异常即回滚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START TRANSACTION;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COMMIT; -- 全流程校验通过，最终提交事务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END;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62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397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事务原子性保障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利用数据库事务机制，确保下单全链路操作“要么全成功，要么全回滚”，杜绝中间状态。</a:t>
            </a:r>
          </a:p>
        </p:txBody>
      </p:sp>
      <p:sp>
        <p:nvSpPr>
          <p:cNvPr id="13" name="AutoShape 13"/>
          <p:cNvSpPr/>
          <p:nvPr/>
        </p:nvSpPr>
        <p:spPr>
          <a:xfrm>
            <a:off x="43815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3975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1435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前置校验防超卖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在事务中优先锁定资源并校验库存与余额，避免高并发场景下的超卖、超扣等数据错误。</a:t>
            </a:r>
          </a:p>
        </p:txBody>
      </p:sp>
      <p:sp>
        <p:nvSpPr>
          <p:cNvPr id="16" name="AutoShape 16"/>
          <p:cNvSpPr/>
          <p:nvPr/>
        </p:nvSpPr>
        <p:spPr>
          <a:xfrm>
            <a:off x="8001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397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核心数据强一致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封装复杂业务逻辑于数据库层，减少网络IO，最大程度降低分布式环境下数据不一致的风险。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存储过程：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sp_arrive_at_pickup_point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干线送达柜）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10668000" cy="2921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77800" cy="1778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20800" y="1968500"/>
            <a:ext cx="177800" cy="1778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25600" y="1968500"/>
            <a:ext cx="177800" cy="1778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4092">
            <a:off x="762004" y="240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603500"/>
            <a:ext cx="10160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存储过程：</a:t>
            </a: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sp_arrive_at_pickup_point（</a:t>
            </a: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干线送达入柜）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E5E7EB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397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事务原子性保障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干线送达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+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入柜计数一步完成，失败自动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ROLLBACK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，杜绝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状态改了但包裹没计数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的中间态。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43815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3975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1435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自动触发联动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 →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Arrived_At_Point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后，触发器自动释放干线骑手、触发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chk_capacity CHECK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校验容量。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8001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397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时间戳审计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stage1_completed_at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精确记录干线完成时刻，为骑手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KPI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考核和时效分析提供数据基础。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存储过程：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sp_stage2_deliver（</a:t>
            </a: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楼栋末端送达）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10668000" cy="2921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77800" cy="1778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20800" y="1968500"/>
            <a:ext cx="177800" cy="1778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25600" y="1968500"/>
            <a:ext cx="177800" cy="1778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4092">
            <a:off x="762004" y="240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603500"/>
            <a:ext cx="10160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存储过程：</a:t>
            </a: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sp_stage2_deliver（</a:t>
            </a: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楼栋末端送达）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E5E7EB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397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防御性减数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WHERE current_packages &gt; 0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防止并发场景下减到负数，虽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CHECK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约束也会兜底，但多一层保护更安全。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43815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3975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1435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楼栋骑手自动释放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 →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Completed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后，触发器自动将楼栋骑手状态置为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Idle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，可立即承接下一单。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8001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397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全链路闭环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stage2_completed_at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标志服务履约完成，至此三时间戳完整链形成。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存储过程：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sp_cancel_order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游标退款 </a:t>
            </a:r>
            <a:r>
              <a:rPr kumimoji="0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+ 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库存恢复）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10668000" cy="2921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77800" cy="1778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20800" y="1968500"/>
            <a:ext cx="177800" cy="1778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25600" y="1968500"/>
            <a:ext cx="177800" cy="1778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4092">
            <a:off x="762004" y="240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603500"/>
            <a:ext cx="10160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存储过程：</a:t>
            </a: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sp_cancel_order（</a:t>
            </a: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游标退款 </a:t>
            </a:r>
            <a:r>
              <a:rPr kumimoji="0" lang="en-US" altLang="zh-CN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+ </a:t>
            </a: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库存恢复）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E5E7EB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" name="AutoShape 10"/>
          <p:cNvSpPr/>
          <p:nvPr>
            <p:custDataLst>
              <p:tags r:id="rId1"/>
            </p:custDataLst>
          </p:nvPr>
        </p:nvSpPr>
        <p:spPr>
          <a:xfrm>
            <a:off x="762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2500" y="5397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>
            <p:custDataLst>
              <p:tags r:id="rId3"/>
            </p:custDataLst>
          </p:nvPr>
        </p:nvSpPr>
        <p:spPr>
          <a:xfrm>
            <a:off x="1524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游标遍历 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游标逐行处理订单明细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每道菜逐一恢复库存，是存储过程中处理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一对多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关系的标准模式。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4"/>
            </p:custDataLst>
          </p:nvPr>
        </p:nvSpPr>
        <p:spPr>
          <a:xfrm>
            <a:off x="43815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72000" y="53975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>
            <p:custDataLst>
              <p:tags r:id="rId6"/>
            </p:custDataLst>
          </p:nvPr>
        </p:nvSpPr>
        <p:spPr>
          <a:xfrm>
            <a:off x="51435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退款的原子性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退款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+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恢复库存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+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标记取消在同一事务中完成，任一环节失败则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ROLLBACK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全部撤销。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>
            <p:custDataLst>
              <p:tags r:id="rId7"/>
            </p:custDataLst>
          </p:nvPr>
        </p:nvSpPr>
        <p:spPr>
          <a:xfrm>
            <a:off x="8001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" name="Picture 17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191500" y="5397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>
            <p:custDataLst>
              <p:tags r:id="rId9"/>
            </p:custDataLst>
          </p:nvPr>
        </p:nvSpPr>
        <p:spPr>
          <a:xfrm>
            <a:off x="8763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已终态保护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Completed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或已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Cancelled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订单不可再次取消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IF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判断在事务开头拦截，避免重复退款。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FFFFFF">
                  <a:alpha val="0"/>
                </a:srgbClr>
              </a:gs>
              <a:gs pos="100000">
                <a:srgbClr val="FFFFFF">
                  <a:alpha val="60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0" y="2159000"/>
            <a:ext cx="12192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5588000" y="469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0" y="520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视图</a:t>
            </a:r>
            <a:r>
              <a:rPr kumimoji="0" lang="zh-CN" altLang="en-US" sz="40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lvl="0">
              <a:lnSpc>
                <a:spcPct val="125000"/>
              </a:lnSpc>
              <a:buClr>
                <a:srgbClr val="000000"/>
              </a:buClr>
              <a:defRPr/>
            </a:pPr>
            <a:r>
              <a:rPr lang="en-US" altLang="zh-CN" sz="3200" b="1" kern="0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视图1: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寄存点饱和度预警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10668000" cy="2540000"/>
          </a:xfrm>
          <a:prstGeom prst="roundRect">
            <a:avLst>
              <a:gd name="adj" fmla="val 0"/>
            </a:avLst>
          </a:prstGeom>
          <a:solidFill>
            <a:srgbClr val="1F2937">
              <a:alpha val="90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4092">
            <a:off x="762004" y="2343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540000"/>
            <a:ext cx="101600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Source Code Pro"/>
                <a:cs typeface="Source Code Pro"/>
                <a:sym typeface="Source Code Pro"/>
              </a:rPr>
              <a:t>CREATE VIEW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Source Code Pro"/>
                <a:cs typeface="Source Code Pro"/>
                <a:sym typeface="Source Code Pro"/>
              </a:rPr>
              <a:t>vw_pickup_point_analytics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Source Code Pro"/>
                <a:cs typeface="Source Code Pro"/>
                <a:sym typeface="Source Code Pro"/>
              </a:rPr>
              <a:t> AS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SELECT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point_name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, capacity,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current_packages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ROUND(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current_packages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 / capacity * 100, 2) AS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saturation_pct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2C55E"/>
              </a:solidFill>
              <a:effectLst/>
              <a:uLnTx/>
              <a:uFillTx/>
              <a:latin typeface="Roboto Mono" panose="00000009000000000000" pitchFamily="49" charset="0"/>
              <a:ea typeface="Source Code Pro"/>
              <a:cs typeface="Source Code Pro"/>
              <a:sym typeface="Source Code Pro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FROM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pickup_points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;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62000" y="48260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5016500"/>
            <a:ext cx="457200" cy="4572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651000" y="4953000"/>
            <a:ext cx="406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核心计算逻辑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通过实时聚合寄存点容量与当前包裹数，计算饱和度百分比，精准量化各网点的负载状态，为系统提供可靠的基础分析数据。</a:t>
            </a:r>
          </a:p>
        </p:txBody>
      </p:sp>
      <p:sp>
        <p:nvSpPr>
          <p:cNvPr id="13" name="AutoShape 13"/>
          <p:cNvSpPr/>
          <p:nvPr/>
        </p:nvSpPr>
        <p:spPr>
          <a:xfrm>
            <a:off x="6223000" y="48260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5016500"/>
            <a:ext cx="457200" cy="4572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112000" y="4953000"/>
            <a:ext cx="406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爆仓预警支撑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作为可视化大屏的核心数据源，该视图能实时触发高饱和度网点的预警机制，帮助运营团队及时调度，避免寄存点包裹积压。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视图2：商家销售排行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842000" cy="3810000"/>
          </a:xfrm>
          <a:prstGeom prst="roundRect">
            <a:avLst>
              <a:gd name="adj" fmla="val 0"/>
            </a:avLst>
          </a:prstGeom>
          <a:solidFill>
            <a:srgbClr val="1F2937">
              <a:alpha val="90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2954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5748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7473">
            <a:off x="762007" y="2343150"/>
            <a:ext cx="584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540000"/>
            <a:ext cx="5334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VIEW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vw_merchant_sales_rank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AS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SELECT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merchant_name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SUM(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total_amount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) AS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total_sales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RANK() OVER (ORDER BY SUM(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total_amount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) DESC) AS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sales_rank</a:t>
            </a:r>
            <a:endParaRPr kumimoji="0" lang="en-US" sz="1300" b="0" i="0" u="none" strike="noStrike" kern="0" cap="none" spc="0" normalizeH="0" baseline="0" noProof="0" dirty="0">
              <a:ln>
                <a:noFill/>
              </a:ln>
              <a:solidFill>
                <a:srgbClr val="22C55E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FROM merchants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LEFT JOIN orders USING(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GROUP BY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;</a:t>
            </a:r>
          </a:p>
        </p:txBody>
      </p:sp>
      <p:sp>
        <p:nvSpPr>
          <p:cNvPr id="10" name="AutoShape 10"/>
          <p:cNvSpPr/>
          <p:nvPr/>
        </p:nvSpPr>
        <p:spPr>
          <a:xfrm>
            <a:off x="6985000" y="1778000"/>
            <a:ext cx="4572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75500" y="1968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747000" y="19685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原生窗口函数，高效排名计算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3" name="Connector 13"/>
          <p:cNvCxnSpPr/>
          <p:nvPr/>
        </p:nvCxnSpPr>
        <p:spPr>
          <a:xfrm rot="-10417">
            <a:off x="7175510" y="2533650"/>
            <a:ext cx="419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7175500" y="26670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RANK()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窗口函数替代传统的子查询方式，直接在查询结果集上进行排名计算，简化了复杂的统计逻辑，提升了代码的执行效率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6985000" y="3873500"/>
            <a:ext cx="4572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75500" y="4064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747000" y="4064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物化业务视图，驱动决策分析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" name="Connector 18"/>
          <p:cNvCxnSpPr/>
          <p:nvPr/>
        </p:nvCxnSpPr>
        <p:spPr>
          <a:xfrm rot="-10417">
            <a:off x="7175510" y="4629150"/>
            <a:ext cx="419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7175500" y="47625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创建的视图将商家基础信息与订单金额实时关联聚合，提供了即时的商家销售表现看板，无需重复编写统计SQL，支持快速的经营策略调整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762000" y="59055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89000" y="5994400"/>
            <a:ext cx="1041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核心价值：通过 MySQL 8.0 窗口函数能力，将复杂的数据分析逻辑下沉到数据库层，实现高性能、低维护成本的实时数据服务。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413000"/>
            <a:ext cx="12192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69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20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系统可视化大屏</a:t>
            </a:r>
            <a:r>
              <a:rPr kumimoji="0" lang="zh-CN" altLang="en-US" sz="40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</a:t>
            </a:r>
            <a:r>
              <a:rPr kumimoji="0" lang="en-US" altLang="zh-CN" sz="40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kumimoji="0" lang="zh-CN" altLang="en-US" sz="40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查询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可视化大屏展示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5207000"/>
            <a:ext cx="533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基于ECharts构建的数据监控中心，整合多维度运营指标，将分散的业务数据集中化、可视化呈现，为管理决策提供直观、高效的依据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Connector 6"/>
          <p:cNvCxnSpPr/>
          <p:nvPr/>
        </p:nvCxnSpPr>
        <p:spPr>
          <a:xfrm rot="5390450">
            <a:off x="4191000" y="3930659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6731000" y="1651000"/>
            <a:ext cx="2476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21500" y="1841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7366000" y="18034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核心KPI总览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0" name="Connector 10"/>
          <p:cNvCxnSpPr/>
          <p:nvPr/>
        </p:nvCxnSpPr>
        <p:spPr>
          <a:xfrm rot="-20834">
            <a:off x="6921519" y="2406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6921500" y="26035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聚合今日订单、营收总额、活跃骑手及爆仓预警等关键指标，全局运营态势一目了然，实现数据总览的高效化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9334500" y="1651000"/>
            <a:ext cx="2476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0" y="1841500"/>
            <a:ext cx="355600" cy="3556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9969500" y="18034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全链路订单管控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5" name="Connector 15"/>
          <p:cNvCxnSpPr/>
          <p:nvPr/>
        </p:nvCxnSpPr>
        <p:spPr>
          <a:xfrm rot="-20834">
            <a:off x="9525019" y="2406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9525000" y="26035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支持订单六态智能筛选，实时追踪订单流转进度，精细化把控每一个服务节点，保障订单处理的高效性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731000" y="4000500"/>
            <a:ext cx="2476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1500" y="4191000"/>
            <a:ext cx="355600" cy="3556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7366000" y="41529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智能饱和度预警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20"/>
          <p:cNvCxnSpPr/>
          <p:nvPr/>
        </p:nvCxnSpPr>
        <p:spPr>
          <a:xfrm rot="-20834">
            <a:off x="6921519" y="4756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6921500" y="49530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设定科学饱和度阈值，当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&gt;80%触发黄色预警，达到100%即刻红色爆仓警示，提前介入处理，防患于未然。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9334500" y="4000500"/>
            <a:ext cx="2476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0" y="4191000"/>
            <a:ext cx="355600" cy="3556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969500" y="41529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高频实时刷新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5" name="Connector 25"/>
          <p:cNvCxnSpPr/>
          <p:nvPr/>
        </p:nvCxnSpPr>
        <p:spPr>
          <a:xfrm rot="-20834">
            <a:off x="9525019" y="4756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9525000" y="49530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系统数据每30秒自动同步刷新，确保管理者获取的信息始终为最新、最精准的运营实况，决策更及时。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074"/>
          <a:stretch>
            <a:fillRect/>
          </a:stretch>
        </p:blipFill>
        <p:spPr>
          <a:xfrm>
            <a:off x="269240" y="1803400"/>
            <a:ext cx="5954395" cy="2387600"/>
          </a:xfrm>
          <a:prstGeom prst="rect">
            <a:avLst/>
          </a:prstGeom>
          <a:ln>
            <a:solidFill>
              <a:srgbClr val="00B050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Text-to-SQL自然语言查询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842000" cy="825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762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19304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651000" y="1841500"/>
            <a:ext cx="4699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</a:t>
            </a: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用户输入：自然语言交互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管理员以日常口语提问，例如“今天总销售额是多少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？”，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无需掌握专业SQL语法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762000" y="2857500"/>
            <a:ext cx="5842000" cy="825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2857500"/>
            <a:ext cx="762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30099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651000" y="2921000"/>
            <a:ext cx="4699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请求构造：上下文封装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后端服务自动提取用户问题，并结合数据库Schema（表结构、字段含义）封装为请求参数。</a:t>
            </a:r>
          </a:p>
        </p:txBody>
      </p:sp>
      <p:sp>
        <p:nvSpPr>
          <p:cNvPr id="12" name="AutoShape 12"/>
          <p:cNvSpPr/>
          <p:nvPr/>
        </p:nvSpPr>
        <p:spPr>
          <a:xfrm>
            <a:off x="762000" y="3937000"/>
            <a:ext cx="5842000" cy="825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3937000"/>
            <a:ext cx="762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0894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651000" y="4000500"/>
            <a:ext cx="4699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智能转化：大模型推理生成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调用DeepSeek大模型，基于意图理解将自然语言精准转化为符合规范的SQL查询语句。</a:t>
            </a:r>
          </a:p>
        </p:txBody>
      </p:sp>
      <p:sp>
        <p:nvSpPr>
          <p:cNvPr id="16" name="AutoShape 16"/>
          <p:cNvSpPr/>
          <p:nvPr/>
        </p:nvSpPr>
        <p:spPr>
          <a:xfrm>
            <a:off x="762000" y="5080000"/>
            <a:ext cx="2857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762000" y="5080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5232400"/>
            <a:ext cx="355600" cy="3556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397000" y="5207000"/>
            <a:ext cx="2095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安全执行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严格限制仅执行SELECT只读操作，确保数据库数据安全无风险。</a:t>
            </a:r>
          </a:p>
        </p:txBody>
      </p:sp>
      <p:sp>
        <p:nvSpPr>
          <p:cNvPr id="20" name="AutoShape 20"/>
          <p:cNvSpPr/>
          <p:nvPr/>
        </p:nvSpPr>
        <p:spPr>
          <a:xfrm>
            <a:off x="3746500" y="5080000"/>
            <a:ext cx="2857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3746500" y="5080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37000" y="5232400"/>
            <a:ext cx="355600" cy="3556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4381500" y="5207000"/>
            <a:ext cx="2095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结果反馈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将查询结果以直观报表或数据列表形式返回给用户，完成交互闭环。</a:t>
            </a:r>
          </a:p>
        </p:txBody>
      </p:sp>
      <p:cxnSp>
        <p:nvCxnSpPr>
          <p:cNvPr id="24" name="Connector 24"/>
          <p:cNvCxnSpPr/>
          <p:nvPr/>
        </p:nvCxnSpPr>
        <p:spPr>
          <a:xfrm rot="5390316">
            <a:off x="4730750" y="4025909"/>
            <a:ext cx="4508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7235828" y="2853122"/>
            <a:ext cx="4191000" cy="1532755"/>
          </a:xfrm>
          <a:prstGeom prst="roundRect">
            <a:avLst>
              <a:gd name="adj" fmla="val 0"/>
            </a:avLst>
          </a:prstGeom>
          <a:solidFill>
            <a:srgbClr val="ECFDF5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26328" y="3166677"/>
            <a:ext cx="304800" cy="290945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870828" y="3128577"/>
            <a:ext cx="3429000" cy="29166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用户提问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(Prompt)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8" name="Connector 28"/>
          <p:cNvCxnSpPr/>
          <p:nvPr/>
        </p:nvCxnSpPr>
        <p:spPr>
          <a:xfrm flipV="1">
            <a:off x="7426328" y="3671075"/>
            <a:ext cx="3810013" cy="3602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7388226" y="3690005"/>
            <a:ext cx="3810000" cy="6805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系统里现在哪个寄存点的饱和度最高，快满了？需要优先处理一下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。”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7235828" y="4508500"/>
            <a:ext cx="4191000" cy="1778000"/>
          </a:xfrm>
          <a:prstGeom prst="roundRect">
            <a:avLst>
              <a:gd name="adj" fmla="val 0"/>
            </a:avLst>
          </a:prstGeom>
          <a:solidFill>
            <a:srgbClr val="F3F4F6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26328" y="4648200"/>
            <a:ext cx="304800" cy="304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7864478" y="4645797"/>
            <a:ext cx="3429000" cy="2677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</a:t>
            </a: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SQL (Response)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Connector 33"/>
          <p:cNvCxnSpPr/>
          <p:nvPr/>
        </p:nvCxnSpPr>
        <p:spPr>
          <a:xfrm flipV="1">
            <a:off x="7429500" y="4626576"/>
            <a:ext cx="3809992" cy="8924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CA3AF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7426328" y="5050824"/>
            <a:ext cx="3810000" cy="98167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SELECT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point_name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saturation_pct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FROM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vw_pickup_point_analytics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ORDER BY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saturation_pct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DESC LIMIT 1;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自动筛选并排序饱和度数据，精准定位风险寄存点，全程无需人工编写代码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pic>
        <p:nvPicPr>
          <p:cNvPr id="36" name="图片 35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33" b="2407"/>
          <a:stretch>
            <a:fillRect/>
          </a:stretch>
        </p:blipFill>
        <p:spPr>
          <a:xfrm>
            <a:off x="7235828" y="1728076"/>
            <a:ext cx="4191000" cy="875424"/>
          </a:xfrm>
          <a:prstGeom prst="rect">
            <a:avLst/>
          </a:prstGeom>
          <a:ln w="12700">
            <a:solidFill>
              <a:srgbClr val="00B050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413000"/>
            <a:ext cx="1219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00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09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445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080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创新总结与成果交付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创新点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汇总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704850" y="1644650"/>
            <a:ext cx="5194300" cy="121285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04850" y="1644650"/>
            <a:ext cx="75098" cy="121285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958850" y="1708150"/>
            <a:ext cx="4756227" cy="107016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</a:t>
            </a:r>
            <a:r>
              <a:rPr kumimoji="0" lang="en-US" sz="18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构建全自动、多层次的业务规则保障体系，在数据库底层设置七重触发器校验，实现业务逻辑的自动化兜底与风险拦截，筑牢系统数据安全防线。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04850" y="3175000"/>
            <a:ext cx="5270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04850" y="3175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958850" y="3238499"/>
            <a:ext cx="4826000" cy="106455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</a:t>
            </a:r>
            <a:r>
              <a:rPr kumimoji="0" lang="en-US" sz="18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订单状态机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精细化拆解订单创建与执行的全生命周期流转，规范状态变更的触发条件与流转逻辑，确保订单处理流程的严谨性、可控性与全链路可追溯性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13" name="AutoShape 13"/>
          <p:cNvSpPr/>
          <p:nvPr/>
        </p:nvSpPr>
        <p:spPr>
          <a:xfrm>
            <a:off x="685800" y="4699000"/>
            <a:ext cx="528955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85799" y="4699000"/>
            <a:ext cx="76475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939799" y="4762499"/>
            <a:ext cx="4843443" cy="106455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</a:t>
            </a:r>
            <a:r>
              <a:rPr kumimoji="0" lang="en-US" sz="18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寄存点容量双层防护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结合数据库CHECK约束与触发器机制形成双重保险，从数据结构定义与业务操作逻辑两层限制寄存容量，从根源上彻底杜绝数据溢出与非法写入风险。</a:t>
            </a:r>
          </a:p>
        </p:txBody>
      </p:sp>
      <p:sp>
        <p:nvSpPr>
          <p:cNvPr id="16" name="AutoShape 16"/>
          <p:cNvSpPr/>
          <p:nvPr/>
        </p:nvSpPr>
        <p:spPr>
          <a:xfrm>
            <a:off x="6350000" y="1651000"/>
            <a:ext cx="5080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350000" y="1651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604000" y="1714500"/>
            <a:ext cx="4699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RANK() </a:t>
            </a:r>
            <a:r>
              <a:rPr kumimoji="0" lang="en-US" sz="18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窗口函数高效分析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运用高性能窗口函数替代传统子查询，实现复杂业务场景下的动态排名与多维数据统计，大幅提升数据分析的执行效率与计算精准度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19" name="AutoShape 19"/>
          <p:cNvSpPr/>
          <p:nvPr/>
        </p:nvSpPr>
        <p:spPr>
          <a:xfrm>
            <a:off x="6350000" y="3175000"/>
            <a:ext cx="5080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6350000" y="3175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604000" y="3238500"/>
            <a:ext cx="4699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lang="en-US" sz="1300" b="0" i="0" u="none" strike="noStrike" kern="0" cap="none" spc="0" normalizeH="0" baseline="0" noProof="0" dirty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350000" y="4699000"/>
            <a:ext cx="5080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350000" y="4699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6604000" y="4826000"/>
            <a:ext cx="4699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en-US" altLang="zh-CN" b="1" kern="0" dirty="0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06. AI Text-to-SQL </a:t>
            </a:r>
            <a:r>
              <a:rPr lang="en-US" altLang="zh-CN" b="1" kern="0" dirty="0" err="1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自然语言交互</a:t>
            </a:r>
            <a:endParaRPr lang="en-US" altLang="zh-CN" sz="1100" kern="0" dirty="0">
              <a:solidFill>
                <a:srgbClr val="000000"/>
              </a:solidFill>
              <a:cs typeface="Arial" panose="020B0604020202020204"/>
              <a:sym typeface="Arial" panose="020B0604020202020204"/>
            </a:endParaRPr>
          </a:p>
          <a:p>
            <a:pPr lvl="0">
              <a:lnSpc>
                <a:spcPct val="108000"/>
              </a:lnSpc>
              <a:buClr>
                <a:srgbClr val="000000"/>
              </a:buClr>
              <a:defRPr/>
            </a:pPr>
            <a:r>
              <a:rPr lang="en-US" altLang="zh-CN" sz="1300" kern="0" dirty="0" err="1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</a:t>
            </a:r>
            <a:r>
              <a:rPr lang="zh-CN" altLang="en-US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可通过调用大模型</a:t>
            </a:r>
            <a:r>
              <a:rPr lang="en-US" altLang="zh-CN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API</a:t>
            </a:r>
            <a:r>
              <a:rPr lang="zh-CN" altLang="en-US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，将</a:t>
            </a:r>
            <a:r>
              <a:rPr lang="en-US" altLang="zh-CN" sz="1300" kern="0" dirty="0" err="1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自然语言</a:t>
            </a:r>
            <a:r>
              <a:rPr lang="zh-CN" altLang="en-US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转化为</a:t>
            </a:r>
            <a:r>
              <a:rPr lang="en-US" altLang="zh-CN" sz="1300" kern="0" dirty="0" err="1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SQL查询语句</a:t>
            </a:r>
            <a:r>
              <a:rPr lang="zh-CN" altLang="en-US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</a:t>
            </a:r>
            <a:r>
              <a:rPr lang="en-US" altLang="zh-CN" sz="1300" kern="0" dirty="0" err="1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轻松实现数据的查询与探索</a:t>
            </a:r>
            <a:r>
              <a:rPr lang="en-US" altLang="zh-CN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lang="en-US" sz="1300" b="0" i="0" u="none" strike="noStrike" kern="0" cap="none" spc="0" normalizeH="0" baseline="0" noProof="0" dirty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6540500" y="3343954"/>
            <a:ext cx="469900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kern="0" dirty="0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</a:t>
            </a:r>
            <a:r>
              <a:rPr lang="zh-CN" altLang="en-US" b="1" kern="0" dirty="0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系统可视化大屏</a:t>
            </a:r>
            <a:endParaRPr lang="en-US" altLang="zh-CN" b="1" kern="0" dirty="0">
              <a:solidFill>
                <a:srgbClr val="22C55E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r>
              <a:rPr lang="zh-CN" altLang="en-US" sz="1300" kern="0" dirty="0"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</a:t>
            </a:r>
            <a:r>
              <a:rPr lang="en-US" altLang="zh-CN" sz="1300" kern="0" dirty="0" err="1"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ECharts</a:t>
            </a:r>
            <a:r>
              <a:rPr lang="en-US" altLang="zh-CN" sz="1400" kern="0" dirty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altLang="zh-CN" sz="1300" kern="0" dirty="0" err="1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搭建实时数据可视化看板，动态展示核心指标</a:t>
            </a:r>
            <a:r>
              <a:rPr lang="zh-CN" altLang="en-US" sz="1300" kern="0" dirty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，降低使用门槛。</a:t>
            </a:r>
            <a:endParaRPr lang="en-US" altLang="zh-CN" sz="1300" kern="0" dirty="0"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项目交付成果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3782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5200" y="19812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1955800"/>
            <a:ext cx="2438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数据库核心脚本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7" name="Connector 7"/>
          <p:cNvCxnSpPr/>
          <p:nvPr/>
        </p:nvCxnSpPr>
        <p:spPr>
          <a:xfrm rot="-14946">
            <a:off x="965214" y="25844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965200" y="2743200"/>
            <a:ext cx="2971800" cy="939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交付完整的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campus_delivery_db.sql，包含7张核心业务表、3个性能索引、7个业务触发器及4个存储过程与2个统计视图，构建稳固数据层。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394200" y="1778000"/>
            <a:ext cx="33782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7400" y="19812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156200" y="1955800"/>
            <a:ext cx="2438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模拟数据生成工具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2" name="Connector 12"/>
          <p:cNvCxnSpPr/>
          <p:nvPr/>
        </p:nvCxnSpPr>
        <p:spPr>
          <a:xfrm rot="-14946">
            <a:off x="4597414" y="25844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4597400" y="2743200"/>
            <a:ext cx="2971800" cy="939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generate_mock_data.py脚本，可生成5000条具备容量感知特性的模拟订单数据，覆盖全业务场景，支撑系统压力测试与功能演示。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026400" y="1778000"/>
            <a:ext cx="33782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0" y="19812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788400" y="1955800"/>
            <a:ext cx="2438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Flask可视化大屏应用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7" name="Connector 17"/>
          <p:cNvCxnSpPr/>
          <p:nvPr/>
        </p:nvCxnSpPr>
        <p:spPr>
          <a:xfrm rot="-14946">
            <a:off x="8229614" y="25844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8229600" y="2743200"/>
            <a:ext cx="2971800" cy="939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app.py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构建的全栈应用，集成RESTful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API接口、ECharts数据可视化图表及AI分析模块，实现数据的实时展示与智能洞察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762000" y="4191000"/>
            <a:ext cx="52832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5200" y="43942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524000" y="4368800"/>
            <a:ext cx="42672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完整项目文档体系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2" name="Connector 22"/>
          <p:cNvCxnSpPr/>
          <p:nvPr/>
        </p:nvCxnSpPr>
        <p:spPr>
          <a:xfrm rot="-9046">
            <a:off x="965208" y="49974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965200" y="5156200"/>
            <a:ext cx="48768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整理了详尽的项目实践报告、答辩演示PPT，以及结构清晰的README.md文档，涵盖系统架构、部署流程与使用指南，确保项目可维护与可交接。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6299200" y="4191000"/>
            <a:ext cx="52832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02400" y="43942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061200" y="4368800"/>
            <a:ext cx="42672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公网在线演示服务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7" name="Connector 27"/>
          <p:cNvCxnSpPr/>
          <p:nvPr/>
        </p:nvCxnSpPr>
        <p:spPr>
          <a:xfrm rot="-9046">
            <a:off x="6502408" y="49974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6502400" y="5156200"/>
            <a:ext cx="48768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利用Cloudflare Tunnel技术实现本地服务的安全公网穿透，生成稳定的公网访问链接，支持随时随地远程查看项目运行效果与功能演示。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小组成员分工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1524000" y="4368800"/>
            <a:ext cx="42672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完整项目文档体系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965200" y="5156200"/>
            <a:ext cx="48768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整理了详尽的项目实践报告、答辩演示PPT，以及结构清晰的README.md文档，涵盖系统架构、部署流程与使用指南，确保项目可维护与可交接。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7061200" y="4368800"/>
            <a:ext cx="42672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公网在线演示服务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6502400" y="5156200"/>
            <a:ext cx="48768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F8F15574-FBB7-7C33-45CB-53F90F47B2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0633741"/>
              </p:ext>
            </p:extLst>
          </p:nvPr>
        </p:nvGraphicFramePr>
        <p:xfrm>
          <a:off x="635000" y="1524000"/>
          <a:ext cx="9652000" cy="431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000">
                  <a:extLst>
                    <a:ext uri="{9D8B030D-6E8A-4147-A177-3AD203B41FA5}">
                      <a16:colId xmlns:a16="http://schemas.microsoft.com/office/drawing/2014/main" val="1771433609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79557747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14638476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392263979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4072351034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Noto Sans SC" panose="020B0200000000000000" pitchFamily="34" charset="-122"/>
                        </a:rPr>
                        <a:t>序号</a:t>
                      </a:r>
                    </a:p>
                  </a:txBody>
                  <a:tcPr>
                    <a:solidFill>
                      <a:srgbClr val="5141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Noto Sans SC" panose="020B0200000000000000" pitchFamily="34" charset="-122"/>
                        </a:rPr>
                        <a:t>成员姓名</a:t>
                      </a:r>
                    </a:p>
                  </a:txBody>
                  <a:tcPr>
                    <a:solidFill>
                      <a:srgbClr val="5141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Noto Sans SC" panose="020B0200000000000000" pitchFamily="34" charset="-122"/>
                        </a:rPr>
                        <a:t>负责模块</a:t>
                      </a:r>
                    </a:p>
                  </a:txBody>
                  <a:tcPr>
                    <a:solidFill>
                      <a:srgbClr val="5141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Noto Sans SC" panose="020B0200000000000000" pitchFamily="34" charset="-122"/>
                        </a:rPr>
                        <a:t>主要工作内容</a:t>
                      </a:r>
                    </a:p>
                  </a:txBody>
                  <a:tcPr>
                    <a:solidFill>
                      <a:srgbClr val="5141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Noto Sans SC" panose="020B0200000000000000" pitchFamily="34" charset="-122"/>
                        </a:rPr>
                        <a:t>学号</a:t>
                      </a:r>
                    </a:p>
                  </a:txBody>
                  <a:tcPr>
                    <a:solidFill>
                      <a:srgbClr val="5141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279115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1</a:t>
                      </a:r>
                      <a:endParaRPr lang="zh-CN" altLang="en-US" sz="1300" b="0">
                        <a:solidFill>
                          <a:srgbClr val="514137"/>
                        </a:solidFill>
                        <a:latin typeface="Noto Sans SC" panose="020B0200000000000000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方泽锦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需求分析与概念设计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业务需求调研、数据字典编制、全局 </a:t>
                      </a:r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E-R </a:t>
                      </a:r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模型设计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15220242202162</a:t>
                      </a:r>
                      <a:endParaRPr lang="zh-CN" altLang="en-US" sz="1300" b="0">
                        <a:solidFill>
                          <a:srgbClr val="514137"/>
                        </a:solidFill>
                        <a:latin typeface="Noto Sans SC" panose="020B0200000000000000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5413113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2</a:t>
                      </a:r>
                      <a:endParaRPr lang="zh-CN" altLang="en-US" sz="1300" b="0">
                        <a:solidFill>
                          <a:srgbClr val="514137"/>
                        </a:solidFill>
                        <a:latin typeface="Noto Sans SC" panose="020B0200000000000000" pitchFamily="34" charset="-122"/>
                      </a:endParaRPr>
                    </a:p>
                  </a:txBody>
                  <a:tcPr>
                    <a:solidFill>
                      <a:srgbClr val="F5F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叶张弛</a:t>
                      </a:r>
                    </a:p>
                  </a:txBody>
                  <a:tcPr>
                    <a:solidFill>
                      <a:srgbClr val="F5F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逻辑设计与物理实施</a:t>
                      </a:r>
                    </a:p>
                  </a:txBody>
                  <a:tcPr>
                    <a:solidFill>
                      <a:srgbClr val="F5F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范式规范化论证、</a:t>
                      </a:r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DDL </a:t>
                      </a:r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建表、索引策略设计</a:t>
                      </a:r>
                    </a:p>
                  </a:txBody>
                  <a:tcPr>
                    <a:solidFill>
                      <a:srgbClr val="F5F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15220242202197</a:t>
                      </a:r>
                      <a:endParaRPr lang="zh-CN" altLang="en-US" sz="1300" b="0">
                        <a:solidFill>
                          <a:srgbClr val="514137"/>
                        </a:solidFill>
                        <a:latin typeface="Noto Sans SC" panose="020B0200000000000000" pitchFamily="34" charset="-122"/>
                      </a:endParaRPr>
                    </a:p>
                  </a:txBody>
                  <a:tcPr>
                    <a:solidFill>
                      <a:srgbClr val="F5F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891662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3</a:t>
                      </a:r>
                      <a:endParaRPr lang="zh-CN" altLang="en-US" sz="1300" b="0">
                        <a:solidFill>
                          <a:srgbClr val="514137"/>
                        </a:solidFill>
                        <a:latin typeface="Noto Sans SC" panose="020B0200000000000000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许宸豪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触发器和存储过程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防超卖行锁触发器、事务回滚存储过程开发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15220242202196</a:t>
                      </a:r>
                      <a:endParaRPr lang="zh-CN" altLang="en-US" sz="1300" b="0">
                        <a:solidFill>
                          <a:srgbClr val="514137"/>
                        </a:solidFill>
                        <a:latin typeface="Noto Sans SC" panose="020B0200000000000000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5263596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4</a:t>
                      </a:r>
                      <a:endParaRPr lang="zh-CN" altLang="en-US" sz="1300" b="0">
                        <a:solidFill>
                          <a:srgbClr val="514137"/>
                        </a:solidFill>
                        <a:latin typeface="Noto Sans SC" panose="020B0200000000000000" pitchFamily="34" charset="-122"/>
                      </a:endParaRPr>
                    </a:p>
                  </a:txBody>
                  <a:tcPr>
                    <a:solidFill>
                      <a:srgbClr val="F5F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刘如一</a:t>
                      </a:r>
                    </a:p>
                  </a:txBody>
                  <a:tcPr>
                    <a:solidFill>
                      <a:srgbClr val="F5F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后端开发与大屏</a:t>
                      </a:r>
                    </a:p>
                  </a:txBody>
                  <a:tcPr>
                    <a:solidFill>
                      <a:srgbClr val="F5F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Flask API </a:t>
                      </a:r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开发、</a:t>
                      </a:r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ECharts </a:t>
                      </a:r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大屏前端、</a:t>
                      </a:r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AI </a:t>
                      </a:r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集成</a:t>
                      </a:r>
                    </a:p>
                  </a:txBody>
                  <a:tcPr>
                    <a:solidFill>
                      <a:srgbClr val="F5F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15220242202180</a:t>
                      </a:r>
                      <a:endParaRPr lang="zh-CN" altLang="en-US" sz="1300" b="0">
                        <a:solidFill>
                          <a:srgbClr val="514137"/>
                        </a:solidFill>
                        <a:latin typeface="Noto Sans SC" panose="020B0200000000000000" pitchFamily="34" charset="-122"/>
                      </a:endParaRPr>
                    </a:p>
                  </a:txBody>
                  <a:tcPr>
                    <a:solidFill>
                      <a:srgbClr val="F5F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4556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5</a:t>
                      </a:r>
                      <a:endParaRPr lang="zh-CN" altLang="en-US" sz="1300" b="0">
                        <a:solidFill>
                          <a:srgbClr val="514137"/>
                        </a:solidFill>
                        <a:latin typeface="Noto Sans SC" panose="020B0200000000000000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高子帅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测试与文档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5000 </a:t>
                      </a:r>
                      <a:r>
                        <a:rPr lang="zh-CN" altLang="en-US" sz="1300" b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条压测数据生成、测试用例编写、报告撰写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300" b="0" dirty="0">
                          <a:solidFill>
                            <a:srgbClr val="514137"/>
                          </a:solidFill>
                          <a:latin typeface="Noto Sans SC" panose="020B0200000000000000" pitchFamily="34" charset="-122"/>
                        </a:rPr>
                        <a:t>15220242202163</a:t>
                      </a:r>
                      <a:endParaRPr lang="zh-CN" altLang="en-US" sz="1300" b="0" dirty="0">
                        <a:solidFill>
                          <a:srgbClr val="514137"/>
                        </a:solidFill>
                        <a:latin typeface="Noto Sans SC" panose="020B0200000000000000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9511463"/>
                  </a:ext>
                </a:extLst>
              </a:tr>
            </a:tbl>
          </a:graphicData>
        </a:graphic>
      </p:graphicFrame>
      <p:sp>
        <p:nvSpPr>
          <p:cNvPr id="30" name="文本框 29">
            <a:extLst>
              <a:ext uri="{FF2B5EF4-FFF2-40B4-BE49-F238E27FC236}">
                <a16:creationId xmlns:a16="http://schemas.microsoft.com/office/drawing/2014/main" id="{B135B6F1-D839-F7E3-5A56-F34947EDBE10}"/>
              </a:ext>
            </a:extLst>
          </p:cNvPr>
          <p:cNvSpPr txBox="1"/>
          <p:nvPr/>
        </p:nvSpPr>
        <p:spPr>
          <a:xfrm>
            <a:off x="762000" y="1168400"/>
            <a:ext cx="10668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300">
                <a:solidFill>
                  <a:srgbClr val="63554B"/>
                </a:solidFill>
                <a:latin typeface="Noto Sans SC" panose="020B0200000000000000" pitchFamily="34" charset="-122"/>
              </a:rPr>
              <a:t>校园外卖两段式配送数据库系统 </a:t>
            </a:r>
            <a:r>
              <a:rPr lang="en-US" altLang="zh-CN" sz="1300">
                <a:solidFill>
                  <a:srgbClr val="63554B"/>
                </a:solidFill>
                <a:latin typeface="Noto Sans SC" panose="020B0200000000000000" pitchFamily="34" charset="-122"/>
              </a:rPr>
              <a:t>· </a:t>
            </a:r>
            <a:r>
              <a:rPr lang="zh-CN" altLang="en-US" sz="1300">
                <a:solidFill>
                  <a:srgbClr val="63554B"/>
                </a:solidFill>
                <a:latin typeface="Noto Sans SC" panose="020B0200000000000000" pitchFamily="34" charset="-122"/>
              </a:rPr>
              <a:t>数据库课程设计答辩</a:t>
            </a:r>
          </a:p>
        </p:txBody>
      </p:sp>
    </p:spTree>
    <p:extLst>
      <p:ext uri="{BB962C8B-B14F-4D97-AF65-F5344CB8AC3E}">
        <p14:creationId xmlns:p14="http://schemas.microsoft.com/office/powerpoint/2010/main" val="23593481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667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715000" y="4191000"/>
            <a:ext cx="762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4699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6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 &amp; A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0" y="5715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欢迎各位老师、专家批评指正，提出宝贵意见与建议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4228</Words>
  <Application>Microsoft Office PowerPoint</Application>
  <PresentationFormat>宽屏</PresentationFormat>
  <Paragraphs>590</Paragraphs>
  <Slides>42</Slides>
  <Notes>42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42</vt:i4>
      </vt:variant>
    </vt:vector>
  </HeadingPairs>
  <TitlesOfParts>
    <vt:vector size="51" baseType="lpstr">
      <vt:lpstr>Noto Sans SC</vt:lpstr>
      <vt:lpstr>等线</vt:lpstr>
      <vt:lpstr>等线 Light</vt:lpstr>
      <vt:lpstr>Arial</vt:lpstr>
      <vt:lpstr>Roboto Mono</vt:lpstr>
      <vt:lpstr>Office 主题​​</vt:lpstr>
      <vt:lpstr>默认主题</vt:lpstr>
      <vt:lpstr>1_默认主题</vt:lpstr>
      <vt:lpstr>2_默认主题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如烟 柳</dc:creator>
  <cp:lastModifiedBy>如烟 柳</cp:lastModifiedBy>
  <cp:revision>37</cp:revision>
  <dcterms:created xsi:type="dcterms:W3CDTF">2026-06-02T12:07:00Z</dcterms:created>
  <dcterms:modified xsi:type="dcterms:W3CDTF">2026-06-10T14:23:46Z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EA1A604C2C2B45389A6C31A730536F9E_12</vt:lpwstr>
  </property>
  <property fmtid="{D5CDD505-2E9C-101B-9397-08002B2CF9AE}" pid="3" name="KSOProductBuildVer">
    <vt:lpwstr>2052-12.1.0.21915</vt:lpwstr>
  </property>
</Properties>
</file>