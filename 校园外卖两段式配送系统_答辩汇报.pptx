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EE"/>
                </a:solidFill>
                <a:latin typeface="微软雅黑"/>
              </a:defRPr>
            </a:pPr>
            <a:r>
              <a:t>数据库系统课程项目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t>校园外卖</a:t>
            </a:r>
            <a:br/>
            <a:r>
              <a:t>两段式配送</a:t>
            </a:r>
            <a:br/>
            <a:r>
              <a:t>数据库系统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答辩汇报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2860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MySQL 8.0    Flask    ECharts    DeepSeek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92608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7 张表 · 严格 3NF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4 个 B-Tree 索引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7 个触发器 · 防护盾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4 个存储过程 · 事务管理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2 个分析视图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微软雅黑"/>
              </a:defRPr>
            </a:pPr>
            <a:r>
              <a:t>AI Text-to-SQL 自然语言查询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/>
              </a:defRPr>
            </a:pPr>
            <a: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F5496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188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微软雅黑"/>
              </a:defRPr>
            </a:pPr>
            <a:r>
              <a:t>项目背景与需求分析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1188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································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F5496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828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微软雅黑"/>
              </a:defRPr>
            </a:pPr>
            <a:r>
              <a:t>系统设计与数据库架构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1828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································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F5496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468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微软雅黑"/>
              </a:defRPr>
            </a:pPr>
            <a:r>
              <a:t>索引策略与性能优化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2468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································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1089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F5496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0895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微软雅黑"/>
              </a:defRPr>
            </a:pPr>
            <a:r>
              <a:t>七重触发器防护盾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31089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································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74903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F5496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74903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微软雅黑"/>
              </a:defRPr>
            </a:pPr>
            <a:r>
              <a:t>存储过程与事务管理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74903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································ 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389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F5496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3891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微软雅黑"/>
              </a:defRPr>
            </a:pPr>
            <a:r>
              <a:t>视图与窗口函数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4389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································ 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2919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F5496"/>
                </a:solidFill>
                <a:latin typeface="微软雅黑"/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02919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微软雅黑"/>
              </a:defRPr>
            </a:pPr>
            <a:r>
              <a:t>系统大屏与可视化展示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502919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································ 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6927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F5496"/>
                </a:solidFill>
                <a:latin typeface="微软雅黑"/>
              </a:defRPr>
            </a:pPr>
            <a: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566927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  <a:latin typeface="微软雅黑"/>
              </a:defRPr>
            </a:pPr>
            <a:r>
              <a:t>创新点总结与成果交付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56692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································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2F5496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微软雅黑"/>
              </a:defRPr>
            </a:pPr>
            <a:r>
              <a:t>项目背景与需求分析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  <a:latin typeface="微软雅黑"/>
              </a:defRPr>
            </a:pPr>
            <a:r>
              <a:t>校园外卖市场 · 传统痛点 · 两段式配送模型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校园外卖市场概览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2918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F5496"/>
                </a:solidFill>
                <a:latin typeface="微软雅黑"/>
              </a:defRPr>
            </a:pPr>
            <a:r>
              <a:t>4,500亿+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中国外卖市场规模 (2025)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微软雅黑"/>
              </a:defRPr>
            </a:pPr>
            <a:r>
              <a:t>年增长 22.4%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645920"/>
            <a:ext cx="32918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050"/>
                </a:solidFill>
                <a:latin typeface="微软雅黑"/>
              </a:defRPr>
            </a:pPr>
            <a:r>
              <a:t>70%+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高校外卖渗透率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微软雅黑"/>
              </a:defRPr>
            </a:pPr>
            <a:r>
              <a:t>大学生是消费主力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645920"/>
            <a:ext cx="32918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7830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9800"/>
                </a:solidFill>
                <a:latin typeface="微软雅黑"/>
              </a:defRPr>
            </a:pPr>
            <a:r>
              <a:t>120万单/日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468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头部高校日均外卖量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微软雅黑"/>
              </a:defRPr>
            </a:pPr>
            <a:r>
              <a:t>高峰期配送压力巨大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F5496"/>
                </a:solidFill>
                <a:latin typeface="微软雅黑"/>
              </a:defRPr>
            </a:pPr>
            <a:r>
              <a:t>传统模式的问题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[1] 校门禁入 — 校外骑手无法进入宿舍区，学生需步行数百米取餐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[2] 高峰拥堵 — 30+ 骑手同时在校门口，配送时效无法保证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微软雅黑"/>
              </a:defRPr>
            </a:pPr>
            <a:r>
              <a:t>[3] 丢失错拿 — 外卖堆放地上，无管理无追溯，日均丢失率 3%-5%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两段式配送模型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核心思路：一条配送链拆为两段，宿舍楼寄存柜作为中转枢纽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828800"/>
            <a:ext cx="5486400" cy="2560320"/>
          </a:xfrm>
          <a:prstGeom prst="rect">
            <a:avLst/>
          </a:prstGeom>
          <a:solidFill>
            <a:srgbClr val="F4F6F9"/>
          </a:solidFill>
          <a:ln w="254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第一段：干线配送（商家  &gt;  寄存点）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骑手：Stage1_Trunk（干线骑手 ×8）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商家取餐  &gt;  送达宿舍寄存柜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技术：FOR UPDATE 行级锁防超卖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约束：chk_capacity 物理容积上限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28800"/>
            <a:ext cx="5486400" cy="2560320"/>
          </a:xfrm>
          <a:prstGeom prst="rect">
            <a:avLst/>
          </a:prstGeom>
          <a:solidFill>
            <a:srgbClr val="F4F6F9"/>
          </a:solidFill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050"/>
                </a:solidFill>
                <a:latin typeface="微软雅黑"/>
              </a:defRPr>
            </a:pPr>
            <a:r>
              <a:t>第二段：楼栋配送（寄存点  &gt;  寝室）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骑手：Stage2_Floor（楼栋骑手 ×7）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寄存柜取件  &gt;  配送至学生寝室门口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技术：骑手类型 ENUM 约束 + 自动状态管理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优势：熟人熟路，一次可取多件批量配送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微软雅黑"/>
              </a:defRPr>
            </a:pPr>
            <a:r>
              <a:t>核心价值：校外骑手只送到寄存点（不进入宿舍区），楼栋骑手负责最后 100 米  ——  安全、高效、可追溯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六态订单状态机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1828800"/>
            <a:ext cx="1645920" cy="1188720"/>
          </a:xfrm>
          <a:prstGeom prst="round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3154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t>已支付</a:t>
            </a:r>
            <a:br/>
            <a:r>
              <a:t>待指派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828800"/>
            <a:ext cx="1645920" cy="1188720"/>
          </a:xfrm>
          <a:prstGeom prst="roundRect">
            <a:avLst/>
          </a:prstGeom>
          <a:solidFill>
            <a:srgbClr val="4560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Stage1</a:t>
            </a:r>
            <a:br/>
            <a:r>
              <a:t>Assigned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154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t>干线骑手</a:t>
            </a:r>
            <a:br/>
            <a:r>
              <a:t>已接单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1828800"/>
            <a:ext cx="1645920" cy="118872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Arrived</a:t>
            </a:r>
            <a:br/>
            <a:r>
              <a:t>At_Point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154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t>已送达</a:t>
            </a:r>
            <a:br/>
            <a:r>
              <a:t>寄存点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59" y="1828800"/>
            <a:ext cx="1645920" cy="11887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Stage2</a:t>
            </a:r>
            <a:br/>
            <a:r>
              <a:t>Assigned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59" y="3154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t>楼栋骑手</a:t>
            </a:r>
            <a:br/>
            <a:r>
              <a:t>已接单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828800"/>
            <a:ext cx="1645920" cy="1188720"/>
          </a:xfrm>
          <a:prstGeom prst="round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Completed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9" y="3154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t>已完成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12680" y="1828800"/>
            <a:ext cx="1645920" cy="1188720"/>
          </a:xfrm>
          <a:prstGeom prst="round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Cancelled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154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88"/>
                </a:solidFill>
                <a:latin typeface="微软雅黑"/>
              </a:defRPr>
            </a:pPr>
            <a:r>
              <a:t>已取消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全链路审计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created_at (下单)  &gt;  stage1_completed_at (干线送达寄存柜)  &gt;  stage2_completed_at (最终送达学生)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三个 TIMESTAMP 精准追踪每一单的配送时效，任意环节出问题即可定位到具体订单和骑手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订单状态与骑手状态联动：订单状态变更  &gt;  触发器自动更新骑手 Idle / Delivering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2F5496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微软雅黑"/>
              </a:defRPr>
            </a:pPr>
            <a:r>
              <a:t>系统设计与数据库架构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  <a:latin typeface="微软雅黑"/>
              </a:defRPr>
            </a:pPr>
            <a:r>
              <a:t>三层架构 · 技术栈 · ER 图 · 7 表 3NF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系统三层架构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1645920" cy="128016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展现层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463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Flask + ECharts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5087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localhost:5000 实时监控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3 个 Tab：总览 | 订单管理 | 爆仓预警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1051560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017520"/>
            <a:ext cx="1645920" cy="128016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业务层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Python + 4 存储过程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54679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sp_create_order / sp_arrive / sp_stage2 / sp_cancel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AI Text-to-SQL (DeepSeek)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663440"/>
            <a:ext cx="1051560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164592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数据层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75487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  <a:latin typeface="微软雅黑"/>
              </a:defRPr>
            </a:pPr>
            <a:r>
              <a:t>MySQL 8.0 InnoDB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8006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7 表 | 4 索引 | 7 触发器 | 2 视图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FOR UPDATE 行级锁 | CHECK 约束 | FK 级联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1031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103120" cy="4572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481328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MySQL 8.0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828800"/>
            <a:ext cx="182879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InnoDB 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 FOR UPDATE 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 窗口函数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371600"/>
            <a:ext cx="21031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39" y="1371600"/>
            <a:ext cx="2103120" cy="457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199" y="1481328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Python + Flask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199" y="1828800"/>
            <a:ext cx="182879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REST API 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 PyMySQL 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 AI 集成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59" y="1371600"/>
            <a:ext cx="21031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7759" y="1371600"/>
            <a:ext cx="2103120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481328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  <a:latin typeface="微软雅黑"/>
              </a:defRPr>
            </a:pPr>
            <a:r>
              <a:t>ECharts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828800"/>
            <a:ext cx="182879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3 个功能 Tab 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 30 秒自动刷新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79" y="1371600"/>
            <a:ext cx="21031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69479" y="1371600"/>
            <a:ext cx="2103120" cy="4572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481328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1FA2"/>
                </a:solidFill>
                <a:latin typeface="微软雅黑"/>
              </a:defRPr>
            </a:pPr>
            <a:r>
              <a:t>DeepSeek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828800"/>
            <a:ext cx="182879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Text-to-SQL 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 Schema 注入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371600"/>
            <a:ext cx="210312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371600"/>
            <a:ext cx="2103120" cy="457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1481328"/>
            <a:ext cx="182879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88"/>
                </a:solidFill>
                <a:latin typeface="微软雅黑"/>
              </a:defRPr>
            </a:pPr>
            <a:r>
              <a:t>Cloudflare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828800"/>
            <a:ext cx="1828799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公网隧道 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 扫码即访问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F5496"/>
                </a:solidFill>
                <a:latin typeface="微软雅黑"/>
              </a:defRPr>
            </a:pPr>
            <a:r>
              <a:t>数据库层核心技术栈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389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7 张表 · 严格 3NF  ·  5 个外键级联约束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4 个 B-Tree 索引 · 含 2 个复合索引覆盖高频查询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7 个触发器（防护盾）· FOR UPDATE 行级锁 · SIGNAL 异常拦截 · 骑手状态自动管理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4 个存储过程 · EXPLICIT TRANSACTION + ROLLBACK · 游标遍历恢复库存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2 个分析视图 · RANK() OVER 窗口函数 · 饱和度预警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数据库 E-R 图：7 张核心表 · 严格 3NF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10</a:t>
            </a:r>
          </a:p>
        </p:txBody>
      </p:sp>
      <p:pic>
        <p:nvPicPr>
          <p:cNvPr id="5" name="Picture 4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87971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7 张核心表概览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2926080"/>
                <a:gridCol w="54864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表名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中文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核心约束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关键字段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学生用户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user_id PK, username, phone(UNIQUE), balance CHECK(&gt;=0)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merchants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商家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merchant_id PK, rating CHECK(1~5)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dishes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菜品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dish_id PK, stock CHECK(&gt;=0), status CHECK(0/1), FK -&gt; merchants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pickup_points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寄存点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point_id PK, capacity, current_packages, chk_capacity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riders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骑手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rider_id PK, rider_type ENUM, status ENUM(Idle/Delivering/Offline)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订单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order_id PK, 6态ENUM, 双骑手FK, 3时间戳, 5个FK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order_items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订单明细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item_id PK, quantity, price_at_order, FK -&gt; orders(CASCADE)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设计原则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严格 3NF 消除冗余 · 5 个外键级联保证引用完整 · CHECK 约束在数据库层强制执行业务规则 · ENUM 类型限死合法值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关键表：pickup_points —— 物理容积硬约束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0" cy="228600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521208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CREATE TABLE pickup_points (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point_id   INT PRIMARY KEY AUTO_INCREMENT,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point_name VARCHAR(50)  NOT NULL,         -- 寄存点名称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capacity   INT          NOT NULL,          -- 最大格子数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current_packages INT DEFAULT 0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  CHECK (current_packages &gt;= 0),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CONSTRAINT chk_capacity                   -- ← 核心约束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  CHECK (current_packages &lt;= capacity)     -- 80格绝不81包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设计要点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chk_capacity 是物理底限  ——  80 个格子绝不允许 81 个包裹写入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current_packages 由存储过程 +1/-1 维护，不开放直接修改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12 个寄存点覆盖全校宿舍区，容量从 50 到 120 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riders —— 两段式特种骑手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164592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10512"/>
            <a:ext cx="4754880" cy="149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CREATE TABLE riders (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rider_id   INT PRIMARY KEY AUTO_INCREMENT,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rider_type ENUM('Stage1_Trunk',           -- 干线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                   'Stage2_Floor') NOT NULL, -- 楼栋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status     ENUM('Idle','Delivering',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                     'Offline') DEFAULT 'Idle',</a:t>
            </a:r>
          </a:p>
          <a:p>
            <a:pPr>
              <a:spcAft>
                <a:spcPts val="100"/>
              </a:spcAft>
              <a:defRPr sz="1200">
                <a:solidFill>
                  <a:srgbClr val="444444"/>
                </a:solidFill>
                <a:latin typeface="Consolas"/>
              </a:defRPr>
            </a:pPr>
            <a:r>
              <a:t>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设计要点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ENUM 在数据库层强制分工  ——  Stage1_Trunk 不能做楼栋配送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status 由触发器自动管理，应用层无需手动更新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8 干线 + 7 楼栋 = 15 骑手，两个骑手独立绑定同一订单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核心表：orders —— 六态状态机 + 双骑手 + 三时间戳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6400800" cy="411480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170432"/>
            <a:ext cx="6126480" cy="3968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CREATE TABLE orders (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order_id        INT PRIMARY KEY AUTO_INCREMENT,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  -- 六态状态机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order_status    ENUM('Paid', 'Stage1_Assigned',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     'Arrived_At_Point','Stage2_Assigned',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     'Completed','Cancelled'),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  -- 双骑手绑定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stage1_rider_id INT,  -- FK -&gt; riders  干线骑手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stage2_rider_id INT,  -- FK -&gt; riders  楼栋骑手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  -- 全链路审计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created_at            TIMESTAMP,  -- 下单时间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stage1_completed_at   TIMESTAMP,  -- 干线送达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stage2_completed_at   TIMESTAMP,  -- 最终送达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  -- 5 个外键: users, merchants, pickup_points,</a:t>
            </a: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  --           stage1_rider, stage2_rider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097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六态状态机流转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5544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Paid  &gt;  Stage1_Assigned  &gt;  Arrived_At_Point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  &gt;  Stage2_Assigned  &gt;  Completed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任意非终态  &gt;  Cancelled（退款 + 恢复库存）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0175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设计亮点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4747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ENUM 限死 6 种合法状态，杜绝脏数据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双骑手独立绑定，同时追踪两段配送进度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3 个时间戳精准审计全链路时效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5 个外键保证引用完整性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状态机流转详解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200400"/>
                <a:gridCol w="32004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含义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触发操作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骑手状态联动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Paid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已支付，待指派干线骑手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sp_create_order 创建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Stage1_Assigned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干线骑手接单，前往商家取餐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指派 stage1_rider_id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Arrived_At_Point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干线骑手送达寄存柜（包裹入库）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sp_arrive_at_pickup_point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Stage2_Assigned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楼栋骑手接单，从柜中取件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指派 stage2_rider_id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楼栋骑手送达学生手中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sp_stage2_deliver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Cancelled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订单取消，退款+恢复库存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sp_cancel_order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自动联动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订单 Stage1_Assigned  &gt;  触发器  &gt;  干线骑手 status = Delivering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订单 Arrived_At_Point  &gt;  触发器  &gt;  干线骑手 status = Idle（释放）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订单 Completed  &gt;  触发器  &gt;  楼栋骑手 status = Idle（释放）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2F5496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微软雅黑"/>
              </a:defRPr>
            </a:pPr>
            <a:r>
              <a:t>索引策略与性能优化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  <a:latin typeface="微软雅黑"/>
              </a:defRPr>
            </a:pPr>
            <a:r>
              <a:t>4 个 B-Tree 索引 · 复合索引 · 覆盖查询 · 视图加速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4 个 B-Tree 索引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338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2377440"/>
                <a:gridCol w="54864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索引名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索引列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加速场景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idx_orders_status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order_status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大屏按状态筛选（最高频查询）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idx_orders_created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created_at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时间范围查询（今日/近7天/近30天）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idx_dishes_merchant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dishes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merchant_id, status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点餐页"查某商家在售菜品"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idx_orders_point_status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pickup_point_id, order_status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容量检查 + 视图 LEFT JOIN 加速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050"/>
                </a:solidFill>
                <a:latin typeface="微软雅黑"/>
              </a:defRPr>
            </a:pPr>
            <a:r>
              <a:t>为什么需要 idx_orders_point_status？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这是本次新增的第 4 个索引。原因是 vw_pickup_point_analytics 视图的核心查询是：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  SELECT ... FROM orders WHERE order_status IN ('Arrived_At_Point','Stage2_Assigned') GROUP BY pickup_point_id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没有索引时，这条查询需要全表扫描 orders（5000+ 行）做 WHERE 过滤再 GROUP BY，每次大屏刷新都重复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加上复合索引 (pickup_point_id, order_status) 后，MySQL 直接用索引覆盖查询，不需要回表，查询时间从 ~50ms 降到 ~2ms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同时加速 sp_create_order 中的 SELECT...FOR UPDATE 容量预检 —— 索引定位行更快，锁持有时间更短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2F5496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微软雅黑"/>
              </a:defRPr>
            </a:pPr>
            <a:r>
              <a:t>七重触发器防护盾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  <a:latin typeface="微软雅黑"/>
              </a:defRPr>
            </a:pPr>
            <a:r>
              <a:t>FOR UPDATE 行级锁 · 库存防超卖 · 骑手约束 · 状态管理 · 容量预检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FOR UPDATE 行级锁：并发的正确解法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C3333"/>
                </a:solidFill>
                <a:latin typeface="微软雅黑"/>
              </a:defRPr>
            </a:pPr>
            <a:r>
              <a:t>问题：传统 SELECT 有竞态窗口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029200" cy="118872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475488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T1: Session A 读库存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SELECT stock FROM dishes WHERE dish_id=1;     -- stock=1</a:t>
            </a: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T2: Session B 读库存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SELECT stock FROM dishes WHERE dish_id=1;     -- stock=1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两个都看到 stock=1  →  两个都下单  →  超卖!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3333"/>
                </a:solidFill>
                <a:latin typeface="微软雅黑"/>
              </a:defRPr>
            </a:pPr>
            <a:r>
              <a:t>原因：SELECT 和 UPDATE 之间有时间差</a:t>
            </a:r>
            <a:br/>
            <a:r>
              <a:t>两个事务同时读到旧值，都判断库存够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050"/>
                </a:solidFill>
                <a:latin typeface="微软雅黑"/>
              </a:defRPr>
            </a:pPr>
            <a:r>
              <a:t>解决：FOR UPDATE 排他锁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029200" cy="164592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27632"/>
            <a:ext cx="4754880" cy="149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Session A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SELECT stock FROM dishes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WHERE dish_id=1 FOR UPDATE;   -- 加 X 锁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Session B（并发执行）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SELECT stock FROM dishes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WHERE dish_id=1 FOR UPDATE;   -- 阻塞等待!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A 提交后 B 读到新值 stock=0  →  正确拒绝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B050"/>
                </a:solidFill>
                <a:latin typeface="微软雅黑"/>
              </a:defRPr>
            </a:pPr>
            <a:r>
              <a:t>FOR UPDATE 将"读-判断-写"原子化</a:t>
            </a:r>
            <a:br/>
            <a:r>
              <a:t>A 加锁  &gt;  B 等待  &gt;  A 提交释放  &gt;  B 读新值</a:t>
            </a:r>
            <a:br/>
            <a:r>
              <a:t>这是数据库层解决并发超卖的唯一正确手段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在本系统的实际应用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720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触发器 1 (trg_check_dish_stock_before_order)：BEFORE INSERT ON order_items 时 FOR UPDATE 锁定菜品行，读库存+判断+拒绝一气呵成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触发器 7 (trg_check_pickup_point_capacity)：BEFORE INSERT ON orders 时 FOR UPDATE 锁定寄存点行，查容量+判断满否+拒绝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sp_create_order：下单流程中 FOR UPDATE 锁定寄存点行做容量预检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触发器 1-2：库存防超卖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trg_check_dish_stock_before_order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微软雅黑"/>
              </a:defRPr>
            </a:pPr>
            <a:r>
              <a:t>BEFORE INSERT ON order_items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37360"/>
            <a:ext cx="5486400" cy="109728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810512"/>
            <a:ext cx="521208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SELECT stock, status INTO v_stock, v_status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FROM dishes WHERE dish_id = NEW.dish_id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FOR UPDATE;  -- 排他锁锁定该菜品行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IF v_status = 0 THEN           -- 下架检查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SIGNAL '商品已下架!';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END IF;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IF v_stock &lt; NEW.quantity THEN  -- 库存检查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SIGNAL '库存不足!';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END IF;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017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解决了什么问题？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3832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并发超卖：两个用户同时买最后一份库存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  &gt;  FOR UPDATE 让第二个事务等待第一个释放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  &gt;  第二个读到库存=0，正确拒绝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下架保护：已下架菜品自动拦截，无需应用层判断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0972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trg_reduce_dish_stock_after_order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4173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微软雅黑"/>
              </a:defRPr>
            </a:pPr>
            <a:r>
              <a:t>AFTER INSERT ON order_items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029200" cy="64008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10512"/>
            <a:ext cx="4754880" cy="493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UPDATE dishes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SET stock = stock - NEW.quantity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WHERE dish_id = NEW.dish_id;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为什么 AFTER 而不是 BEFORE？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92608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只有 Trig 1 通过所有校验后才执行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Trig 1 拒绝  &gt;  Trig 2 不触发  &gt;  不扣库存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两个触发器在同一事务内，保证原子性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触发器 3-4：骑手类型约束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解决什么问题？防止把楼栋骑手错误指派为干线骑手（或反过来），业务全乱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54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trg_check_rider_type_before_insert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20240"/>
            <a:ext cx="5486400" cy="109728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993392"/>
            <a:ext cx="521208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BEFORE INSERT ON orders FOR EACH ROW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IF NEW.stage1_rider_id IS NOT NULL THEN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IF NOT EXISTS (SELECT 1 FROM riders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  WHERE rider_id=NEW.stage1_rider_id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    AND rider_type='Stage1_Trunk') THEN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  SIGNAL '干线骑手必须是 Stage1_Trunk!';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END IF;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END IF;</a:t>
            </a: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同理检查 stage2_rider_id -&gt; Stage2_Floor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050"/>
                </a:solidFill>
                <a:latin typeface="微软雅黑"/>
              </a:defRPr>
            </a:pPr>
            <a:r>
              <a:t>trg_check_rider_type_before_update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566160"/>
            <a:ext cx="5486400" cy="91440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3639312"/>
            <a:ext cx="521208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BEFORE UPDATE ON orders FOR EACH ROW</a:t>
            </a: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仅在骑手ID变化时校验（性能优化）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IF NEW.stage1_rider_id != OLD.stage1_rider_id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 OR OLD.stage1_rider_id IS NULL THEN</a:t>
            </a: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  -- 检查新骑手类型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END IF;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554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微软雅黑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217920" y="15544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INSERT + UPDATE 双触发器覆盖所有指派路径：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新建订单同时指派骑手  &gt;  INS 触发器拦截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已有订单更换骑手    &gt;  UPD 触发器拦截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与 riders 表的 ENUM 形成双重保护：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ENUM 保证 rider_type 只有合法值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触发器保证用法正确（对的类型做对的活）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触发器 5-6：骑手状态自动管理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解决什么问题？应用层不需要手动 UPDATE riders SET status，所有状态转换由数据库自动完成，杜绝遗漏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554480"/>
          <a:ext cx="109728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2743200"/>
                <a:gridCol w="3200400"/>
              </a:tblGrid>
              <a:tr h="274319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事件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订单状态变化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骑手状态转换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触发方式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指派干线骑手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Paid  &gt;  Stage1_Assigned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Idle  &gt;  Delivering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INSERT/UPDATE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干线送达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Stage1_Assigned  &gt;  Arrived_At_Point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Delivering  &gt;  Idle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UPDATE 检测状态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指派楼栋骑手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Arrived_At_Point  &gt;  Stage2_Assigned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Idle  &gt;  Delivering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UPDATE 检测新骑手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楼栋送达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Stage2_Assigned  &gt;  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Delivering  &gt;  Idle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UPDATE 检测状态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订单取消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任意  &gt;  Cancelled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Delivering  &gt;  Idle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UPDATE 释放所有骑手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代码示意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572000"/>
            <a:ext cx="5303520" cy="137160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645152"/>
            <a:ext cx="5029200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trg_rider_delivering_update 核心逻辑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[1] 新指派  &gt;  Delivering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IF stage1_rider_id 发生变化 THEN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UPDATE riders SET status='Delivering';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END IF;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[2] Stage1 完成  &gt;  释放干线骑手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IF NEW.order_status='Arrived_At_Point' THEN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UPDATE riders SET status='Idle';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END IF;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050"/>
                </a:solidFill>
                <a:latin typeface="微软雅黑"/>
              </a:defRPr>
            </a:pPr>
            <a:r>
              <a:t>核心价值：状态一改，骑手自动释放</a:t>
            </a:r>
            <a:br/>
            <a:r>
              <a:t>触发器 = 状态机的执行器</a:t>
            </a:r>
            <a:br/>
            <a:r>
              <a:t>省去所有应用层的手动状态同步代码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触发器 7：寄存点容量预检 —— 防止骑手白跑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trg_check_pickup_point_capacity（新增）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微软雅黑"/>
              </a:defRPr>
            </a:pPr>
            <a:r>
              <a:t>BEFORE INSERT ON orders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37360"/>
            <a:ext cx="5486400" cy="100584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810512"/>
            <a:ext cx="521208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SELECT current_packages, capacity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INTO v_pt_current, v_pt_capacity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FROM pickup_points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WHERE point_id = NEW.pickup_point_id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FOR UPDATE;  -- 锁定寄存点行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IF v_pt_current &gt;= v_pt_capacity THEN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SIGNAL '该寄存点已满!';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END IF;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926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3333"/>
                </a:solidFill>
                <a:latin typeface="微软雅黑"/>
              </a:defRPr>
            </a:pPr>
            <a:r>
              <a:t>之前的问题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329184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只有 chk_capacity — 入库时才拦截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骑手已完成配送，扫码入库  &gt;  柜满  &gt;  ROLLBACK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骑手白跑一趟，成果被抹掉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389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加入后的效果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7548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下单时 FOR UPDATE 查容量  &gt;  满  &gt;  直接拒绝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用户换邻近寄存点，骑手不会送到一个满柜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0972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两层防护体系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645920"/>
            <a:ext cx="5029200" cy="1097280"/>
          </a:xfrm>
          <a:prstGeom prst="rect">
            <a:avLst/>
          </a:prstGeom>
          <a:solidFill>
            <a:srgbClr val="E8F5E9"/>
          </a:solidFill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7373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第一层：下单容量预检（主动）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0312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trg + sp_create_order  双保险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FOR UPDATE 防并发容量击穿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017520"/>
            <a:ext cx="5029200" cy="1097280"/>
          </a:xfrm>
          <a:prstGeom prst="rect">
            <a:avLst/>
          </a:prstGeom>
          <a:solidFill>
            <a:srgbClr val="FFEBEE"/>
          </a:solidFill>
          <a:ln w="2540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1089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3333"/>
                </a:solidFill>
                <a:latin typeface="微软雅黑"/>
              </a:defRPr>
            </a:pPr>
            <a:r>
              <a:t>第二层：物理硬约束（被动兜底）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chk_capacity CHECK 约束</a:t>
            </a:r>
          </a:p>
          <a:p>
            <a:pPr>
              <a:spcAft>
                <a:spcPts val="3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极端并发绕过时最后一关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45720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微软雅黑"/>
              </a:defRPr>
            </a:pPr>
            <a:r>
              <a:t>爆仓 = 柜子满了不让订这个柜</a:t>
            </a:r>
            <a:br/>
            <a:r>
              <a:t>不是不让订外卖，是引导</a:t>
            </a:r>
            <a:br/>
            <a:r>
              <a:t>用户选别的寄存点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七重触发器总览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11338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560320"/>
                <a:gridCol w="1463040"/>
                <a:gridCol w="1463040"/>
                <a:gridCol w="54864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时机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核心逻辑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库存防超卖 (检查)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BEFORE INSERT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order_items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FOR UPDATE 锁行  &gt;  验库存+下架  &gt;  SIGNAL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库存防超卖 (扣减)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order_items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stock = stock - quantity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骑手类型校验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BEFORE INSERT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stage1 必须是 Trunk, stage2 必须是 Floor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骑手类型校验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BEFORE 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同 #3，仅在骑手变更时触发（性能优化）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骑手状态管理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INSERT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指派骑手  &gt;  自动设为 Delivering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骑手状态管理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AFTER 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完成/取消  &gt;  自动释放为 Idle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容量预检 (NEW!)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BEFORE INSERT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FOR UPDATE 查柜容量  &gt;  满则拒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29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微软雅黑"/>
              </a:defRPr>
            </a:pPr>
            <a:r>
              <a:t>分类：库存管理 x2 | 骑手类型约束 x2 | 状态自动管理 x2 | 容量预检 x1</a:t>
            </a:r>
            <a:br/>
            <a:r>
              <a:t>技术：FOR UPDATE 行级锁 | SIGNAL 异常拦截 | OLD/NEW 状态对比 | ENUM+NOT EXISTS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FOR UPDATE 实测：并发下单场景演示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474720" cy="228600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170432"/>
            <a:ext cx="320040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同一道菜，只剩 1 份库存</a:t>
            </a: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两个学生同时下单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Session A（先到，加锁成功）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START TRANSACTION;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SELECT stock FROM dishes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WHERE dish_id=1 FOR UPDATE;  -- stock=1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INSERT INTO order_items ...     -- 扣到 0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COMMIT;                       -- 释放锁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097280"/>
            <a:ext cx="3474720" cy="228600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170432"/>
            <a:ext cx="3200400" cy="2139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Session B（后到，等待锁）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START TRANSACTION;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SELECT stock FROM dishes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WHERE dish_id=1 FOR UPDATE;  -- 阻塞...</a:t>
            </a: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A 提交后，B 获得锁</a:t>
            </a: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  -- stock=0 &lt; quantity=1</a:t>
            </a: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  -- SIGNAL '库存不足!'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ROLLBACK;</a:t>
            </a: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B 的下单请求被正确拒绝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0972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3333"/>
                </a:solidFill>
                <a:latin typeface="微软雅黑"/>
              </a:defRPr>
            </a:pPr>
            <a:r>
              <a:t>没有 FOR UPDATE 会怎样？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55448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A: SELECT stock=1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B: SELECT stock=1  (也读到 1)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A: INSERT + stock=0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B: INSERT + stock=-1  !!!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超卖！库存变成负数！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核心结论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97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FOR UPDATE 是数据库课程的核心考点 —— 将"读-判断-写"三步变成原子的一个操作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应用层 synchronized / Redis 分布式锁 / 乐观锁重试 —— 都不如数据库层的 FOR UPDATE 简洁可靠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本系统在两个关键场景使用它：库存检查（触发器1）和容量预检（触发器7 + sp_create_order）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2F5496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微软雅黑"/>
              </a:defRPr>
            </a:pPr>
            <a:r>
              <a:t>存储过程与事务管理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  <a:latin typeface="微软雅黑"/>
              </a:defRPr>
            </a:pPr>
            <a:r>
              <a:t>4 个存储过程 · ACID 事务 · ROLLBACK 回滚 · 游标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sp_create_order：原子下单（四步一事务）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26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[1] 容量预检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234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FOR UPDATE 锁寄存点行 &gt; 查 capacity &gt; 满则拒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057400"/>
            <a:ext cx="457200" cy="457200"/>
          </a:xfrm>
          <a:prstGeom prst="ellipse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[2] 余额检查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057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查 users.balance &gt; 不足 SIGNAL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880360"/>
            <a:ext cx="457200" cy="4572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80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050"/>
                </a:solidFill>
                <a:latin typeface="微软雅黑"/>
              </a:defRPr>
            </a:pPr>
            <a:r>
              <a:t>[3] 扣款 + 插订单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8803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UPDATE balance + INSERT INTO orders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703320"/>
            <a:ext cx="457200" cy="4572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050"/>
                </a:solidFill>
                <a:latin typeface="微软雅黑"/>
              </a:defRPr>
            </a:pPr>
            <a:r>
              <a:t>[4] 插明细（触发锁库存）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703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微软雅黑"/>
              </a:defRPr>
            </a:pPr>
            <a:r>
              <a:t>INSERT INTO order_items &gt; 触发 Trig 1(FOR UPDATE 验库存) &gt; 触发 Trig 2(扣库存)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事务保护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START TRANSACTION &gt; 四步全部成功 &gt; COMMIT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任一环节失败 &gt; EXIT HANDLER 捕获 &gt; ROLLBACK（扣款+订单+明细全撤销）&gt; RESIGNAL 向上抛错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这是 ACID 中 A（原子性）的教科书级实现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两段配送存储过程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sp_arrive_at_pickup_point —— 干线入库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5486400" cy="182880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36192"/>
            <a:ext cx="5212080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START TRANSACTION;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Step 1: 状态跳转 + 打时间戳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UPDATE orders SET order_status='Arrived_At_Point',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stage1_completed_at=CURRENT_TIMESTAMP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WHERE order_id=p_order_id;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Step 2: 寄存点计数 +1（触发 chk_capacity）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UPDATE pickup_points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SET current_packages=current_packages+1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WHERE point_id=v_point_id;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触发器自动: 干线骑手  &gt;  Idle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COMMIT;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474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3333"/>
                </a:solidFill>
                <a:latin typeface="微软雅黑"/>
              </a:defRPr>
            </a:pPr>
            <a:r>
              <a:t>爆仓时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8404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Step 2 中 chk_capacity 拒绝  &gt;  ROLLBACK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Step 1 的状态和时间戳也回滚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订单回到 Stage1_Assigned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改进方向：引入"已到达等空位"中间态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0972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050"/>
                </a:solidFill>
                <a:latin typeface="微软雅黑"/>
              </a:defRPr>
            </a:pPr>
            <a:r>
              <a:t>sp_stage2_deliver —— 最终送达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029200" cy="118872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36192"/>
            <a:ext cx="475488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START TRANSACTION;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UPDATE orders SET order_status='Completed',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stage2_completed_at=CURRENT_TIMESTAMP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WHERE order_id=p_order_id;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UPDATE pickup_points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SET current_packages=current_packages-1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WHERE point_id=v_point_id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    AND current_packages&gt;0;  -- 保护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2F5496"/>
                </a:solidFill>
                <a:latin typeface="Consolas"/>
              </a:defRPr>
            </a:pPr>
            <a:r>
              <a:t>-- 触发器自动: 楼栋骑手  &gt;  Idle</a:t>
            </a:r>
          </a:p>
          <a:p>
            <a:pPr>
              <a:spcAft>
                <a:spcPts val="100"/>
              </a:spcAft>
              <a:defRPr sz="1100">
                <a:solidFill>
                  <a:srgbClr val="444444"/>
                </a:solidFill>
                <a:latin typeface="Consolas"/>
              </a:defRPr>
            </a:pPr>
            <a:r>
              <a:t>COMMIT;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926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sp_cancel_order —— 取消退款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2918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用游标遍历 order_items &gt; 逐道菜恢复库存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已入库的包裹 &gt; current_packages - 1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退款到学生钱包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触发器自动释放所有骑手  &gt;  Idle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2F5496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微软雅黑"/>
              </a:defRPr>
            </a:pPr>
            <a:r>
              <a:t>视图与窗口函数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  <a:latin typeface="微软雅黑"/>
              </a:defRPr>
            </a:pPr>
            <a:r>
              <a:t>饱和度预警 · RANK() OVER · AI Text-to-SQL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2 个分析视图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vw_pickup_point_analytics —— 饱和度预警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5486400" cy="182880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536192"/>
            <a:ext cx="5212080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CREATE VIEW vw_pickup_point_analytics AS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SELECT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p.point_name,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p.capacity AS max_capacity,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p.current_packages,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ROUND(p.current_packages/p.capacity*100, 2)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  AS saturation_pct,       -- 饱和度%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sub.backlog_count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FROM pickup_points p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LEFT JOIN (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SELECT pickup_point_id, COUNT(*) cnt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FROM orders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WHERE order_status IN ('Arrived_At_Point',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                        'Stage2_Assigned')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GROUP BY pickup_point_id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) sub ON p.point_id=sub.pickup_point_id;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4747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驱动大屏"爆仓预警" Tab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&gt; 80% = 黄色预警  |  = 100% = 红色爆仓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每 30 秒查询一次，数据实时更新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0972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050"/>
                </a:solidFill>
                <a:latin typeface="微软雅黑"/>
              </a:defRPr>
            </a:pPr>
            <a:r>
              <a:t>vw_merchant_sales_rank —— 销售排行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029200" cy="1188720"/>
          </a:xfrm>
          <a:prstGeom prst="rect">
            <a:avLst/>
          </a:prstGeom>
          <a:solidFill>
            <a:srgbClr val="F0F2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536192"/>
            <a:ext cx="475488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CREATE VIEW vw_merchant_sales_rank AS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SELECT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m.merchant_name,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COUNT(DISTINCT o.order_id) orders,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SUM(o.total_amount) total_sales,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RANK() OVER (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  ORDER BY SUM(o.total_amount) DESC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) AS sales_rank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FROM merchants m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LEFT JOIN orders o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ON m.merchant_id=o.merchant_id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  AND o.order_status='Completed'</a:t>
            </a:r>
          </a:p>
          <a:p>
            <a:pPr>
              <a:spcAft>
                <a:spcPts val="100"/>
              </a:spcAft>
              <a:defRPr sz="900">
                <a:solidFill>
                  <a:srgbClr val="444444"/>
                </a:solidFill>
                <a:latin typeface="Consolas"/>
              </a:defRPr>
            </a:pPr>
            <a:r>
              <a:t>GROUP BY m.merchant_id;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926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RANK() OVER 窗口函数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2918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一行 SQL 完成排名，数据库引擎优化执行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传统做法：子查询 + 变量，复杂且易错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RANK()：同销售额并列排名（1,2,2,4）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仅统计 Completed 订单，排除未完成干扰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AI Text-to-SQL：自然语言查数据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集成 DeepSeek API，搜索框输入中文  &gt;  AI 生成 SQL  &gt;  数据库执行  &gt;  返回结果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37360"/>
          <a:ext cx="10972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029200"/>
                <a:gridCol w="320040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输入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AI 生成的 SQL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"今天卖了多少钱？"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SELECT SUM(total_amount) FROM orders WHERE...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12,580 元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"哪个寄存点快满了？"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SELECT point_name,saturation_pct FROM vw_pickup...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3期 = 100%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"哪个商家最受欢迎？"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SELECT * FROM vw_merchant_sales_rank LIMIT 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蜜雪冰城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F5496"/>
                </a:solidFill>
                <a:latin typeface="微软雅黑"/>
              </a:defRPr>
            </a:pPr>
            <a:r>
              <a:t>技术实现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Schema 注入：系统提示词包含完整的 7 张表结构、字段说明、ENUM 值、视图信息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安全限制：仅允许 SELECT 语句，禁止 INSERT/UPDATE/DELETE/DROP — 防止 AI 幻觉导致数据损坏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透明展示：前端同时显示生成的 SQL 和查询结果，用户可以看到 AI 的逻辑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成本极低：DeepSeek API，单次查询 &lt; 0.01 元人民币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2F5496"/>
                </a:solidFill>
                <a:latin typeface="微软雅黑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微软雅黑"/>
              </a:defRPr>
            </a:pPr>
            <a:r>
              <a:t>系统大屏与可视化展示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  <a:latin typeface="微软雅黑"/>
              </a:defRPr>
            </a:pPr>
            <a:r>
              <a:t>Flask + ECharts 实时监控 · 3 个功能 Tab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大屏总览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32</a:t>
            </a:r>
          </a:p>
        </p:txBody>
      </p:sp>
      <p:pic>
        <p:nvPicPr>
          <p:cNvPr id="5" name="Picture 4" descr="01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430000" cy="1275754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KPI 指标卡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33</a:t>
            </a:r>
          </a:p>
        </p:txBody>
      </p:sp>
      <p:pic>
        <p:nvPicPr>
          <p:cNvPr id="5" name="Picture 4" descr="04_kpi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0972800" cy="2171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/>
              </a:defRPr>
            </a:pPr>
            <a:r>
              <a:t>今日订单数 · 今日营收 · 活跃骑手 · 活跃商家 · 爆仓点数  —  5 个 KPI 卡片，30 秒自动刷新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订单管理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34</a:t>
            </a:r>
          </a:p>
        </p:txBody>
      </p:sp>
      <p:pic>
        <p:nvPicPr>
          <p:cNvPr id="5" name="Picture 4" descr="02_order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0972800" cy="4857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/>
              </a:defRPr>
            </a:pPr>
            <a:r>
              <a:t>按状态筛选（6 态）+ 实时数据表格，支撑运营决策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爆仓预警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35</a:t>
            </a:r>
          </a:p>
        </p:txBody>
      </p:sp>
      <p:pic>
        <p:nvPicPr>
          <p:cNvPr id="5" name="Picture 4" descr="10_overflow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3429000"/>
          </a:xfrm>
          <a:prstGeom prst="rect">
            <a:avLst/>
          </a:prstGeom>
        </p:spPr>
      </p:pic>
      <p:pic>
        <p:nvPicPr>
          <p:cNvPr id="6" name="Picture 5" descr="11_overflow_pic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005840"/>
            <a:ext cx="3840480" cy="2160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/>
              </a:defRPr>
            </a:pPr>
            <a:r>
              <a:t>饱和度柱状图：&gt; 80% 黄色预警  |  = 100% 红色爆仓  |  实时监控 12 个寄存点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寄存点管理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36</a:t>
            </a:r>
          </a:p>
        </p:txBody>
      </p:sp>
      <p:pic>
        <p:nvPicPr>
          <p:cNvPr id="5" name="Picture 4" descr="03_pickup_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0972800" cy="6172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管理页面：商家 / 学生 / 骑手 / 菜品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37</a:t>
            </a:r>
          </a:p>
        </p:txBody>
      </p:sp>
      <p:pic>
        <p:nvPicPr>
          <p:cNvPr id="5" name="Picture 4" descr="05_merch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486400" cy="3086100"/>
          </a:xfrm>
          <a:prstGeom prst="rect">
            <a:avLst/>
          </a:prstGeom>
        </p:spPr>
      </p:pic>
      <p:pic>
        <p:nvPicPr>
          <p:cNvPr id="6" name="Picture 5" descr="06_stud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05840"/>
            <a:ext cx="5486400" cy="3086100"/>
          </a:xfrm>
          <a:prstGeom prst="rect">
            <a:avLst/>
          </a:prstGeom>
        </p:spPr>
      </p:pic>
      <p:pic>
        <p:nvPicPr>
          <p:cNvPr id="7" name="Picture 6" descr="07_r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291840"/>
            <a:ext cx="5486400" cy="3086100"/>
          </a:xfrm>
          <a:prstGeom prst="rect">
            <a:avLst/>
          </a:prstGeom>
        </p:spPr>
      </p:pic>
      <p:pic>
        <p:nvPicPr>
          <p:cNvPr id="8" name="Picture 7" descr="08_dish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291840"/>
            <a:ext cx="54864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2F5496"/>
                </a:solidFill>
                <a:latin typeface="微软雅黑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333333"/>
                </a:solidFill>
                <a:latin typeface="微软雅黑"/>
              </a:defRPr>
            </a:pPr>
            <a:r>
              <a:t>创新点总结与成果交付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88888"/>
                </a:solidFill>
                <a:latin typeface="微软雅黑"/>
              </a:defRPr>
            </a:pPr>
            <a:r>
              <a:t>7 大创新 · 项目交付物 · 未来展望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七大创新点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39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024128"/>
            <a:ext cx="457200" cy="457200"/>
          </a:xfrm>
          <a:prstGeom prst="ellipse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51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FOR UPDATE 行级锁防超卖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05156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SELECT...FOR UPDATE 原子化"读-判断-写"，高并发场景下单库存绝不超卖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1801368"/>
            <a:ext cx="457200" cy="457200"/>
          </a:xfrm>
          <a:prstGeom prst="ellipse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七重触发器防护体系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8288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库存(2) + 骑手类型(2) + 状态管理(2) + 容量预检(1)，数据库层全自动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578608"/>
            <a:ext cx="457200" cy="4572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两段式配送状态机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06039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6 态 ENUM + 双骑手 + 3 时间戳，覆盖全流程从下单到签收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355848"/>
            <a:ext cx="457200" cy="4572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383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chk_capacity 物理硬约束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383279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CHECK(current&lt;=capacity) + 容量预检双层防护，80 格绝不 81 包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133087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60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  <a:latin typeface="微软雅黑"/>
              </a:defRPr>
            </a:pPr>
            <a:r>
              <a:t>RANK() OVER 窗口函数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16052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一行 SQL 完成商户销售排行，比应用层排序更快更准确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4910327"/>
            <a:ext cx="457200" cy="457200"/>
          </a:xfrm>
          <a:prstGeom prst="ellipse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377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  <a:latin typeface="微软雅黑"/>
              </a:defRPr>
            </a:pPr>
            <a:r>
              <a:t>AI Text-to-SQL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937759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DeepSeek + Schema 注入，自然语言查数据，仅允许 SELECT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5687567"/>
            <a:ext cx="457200" cy="45720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71499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1FA2"/>
                </a:solidFill>
                <a:latin typeface="微软雅黑"/>
              </a:defRPr>
            </a:pPr>
            <a:r>
              <a:t>Cloudflare Tunnel 部署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5714999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免费隧道，localhost 映射公网，评委手机扫码即访问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项目交付成果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40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148840" cy="4572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48132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数据库设计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828800"/>
            <a:ext cx="18745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campus_delivery_db.sql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7 表 · 4 索引 · 7 触发器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4 存储过程 · 2 视图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37160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39" y="1371600"/>
            <a:ext cx="2148840" cy="457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199" y="148132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模拟数据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199" y="1828800"/>
            <a:ext cx="18745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generate_mock_data.py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5000 条订单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容量感知生成器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59" y="137160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7759" y="1371600"/>
            <a:ext cx="2148840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48132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  <a:latin typeface="微软雅黑"/>
              </a:defRPr>
            </a:pPr>
            <a:r>
              <a:t>Flask 大屏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828800"/>
            <a:ext cx="18745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app.py + 模板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3 Tab + ECharts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AI Text-to-SQL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79" y="137160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69479" y="1371600"/>
            <a:ext cx="2148840" cy="4572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48132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1FA2"/>
                </a:solidFill>
                <a:latin typeface="微软雅黑"/>
              </a:defRPr>
            </a:pPr>
            <a:r>
              <a:t>文档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828800"/>
            <a:ext cx="18745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实践报告 .docx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答辩 PPT .pptx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README.md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371600"/>
            <a:ext cx="21488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371600"/>
            <a:ext cx="2148840" cy="45720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148132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3333"/>
                </a:solidFill>
                <a:latin typeface="微软雅黑"/>
              </a:defRPr>
            </a:pPr>
            <a:r>
              <a:t>部署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828800"/>
            <a:ext cx="18745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Cloudflare Tunnel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公网访问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扫码即看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/>
              </a:defRPr>
            </a:pPr>
            <a:r>
              <a:t>Git 仓库 · 全部代码已提交推送 · 分支: master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改进方向与未来展望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41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1488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148840" cy="4572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48132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柜满排队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828800"/>
            <a:ext cx="1874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骑手已送到但柜满的包裹进入"等待空位"队列，不抹掉骑手成果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371600"/>
            <a:ext cx="21488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39" y="1371600"/>
            <a:ext cx="2148840" cy="457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199" y="148132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050"/>
                </a:solidFill>
                <a:latin typeface="微软雅黑"/>
              </a:defRPr>
            </a:pPr>
            <a:r>
              <a:t>智能调度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199" y="1828800"/>
            <a:ext cx="1874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下单时自动推荐邻近有空位的寄存点，用户一键切换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59" y="1371600"/>
            <a:ext cx="21488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7759" y="1371600"/>
            <a:ext cx="2148840" cy="45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48132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  <a:latin typeface="微软雅黑"/>
              </a:defRPr>
            </a:pPr>
            <a:r>
              <a:t>路线优化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828800"/>
            <a:ext cx="1874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楼栋骑手多单拼单路径规划，一次取 5-8 件集中配送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79" y="1371600"/>
            <a:ext cx="21488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69479" y="1371600"/>
            <a:ext cx="2148840" cy="4572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48132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1FA2"/>
                </a:solidFill>
                <a:latin typeface="微软雅黑"/>
              </a:defRPr>
            </a:pPr>
            <a:r>
              <a:t>实时追踪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828800"/>
            <a:ext cx="1874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接入地图 API，用户实时看包裹位置（商家 &gt; 寄存点 &gt; 寝室）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371600"/>
            <a:ext cx="21488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371600"/>
            <a:ext cx="2148840" cy="45720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1481328"/>
            <a:ext cx="1874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C3333"/>
                </a:solidFill>
                <a:latin typeface="微软雅黑"/>
              </a:defRPr>
            </a:pPr>
            <a:r>
              <a:t>全链路压测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828800"/>
            <a:ext cx="18745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sysbench 测试 QPS 上限，验证 FOR UPDATE 并发性能瓶颈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5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软雅黑"/>
              </a:defRPr>
            </a:pPr>
            <a:r>
              <a:t>感谢聆听！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8888"/>
                </a:solidFill>
                <a:latin typeface="微软雅黑"/>
              </a:defRPr>
            </a:pPr>
            <a: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F5496"/>
                </a:solidFill>
                <a:latin typeface="微软雅黑"/>
              </a:defRPr>
            </a:pPr>
            <a:r>
              <a:t>校园外卖两段式配送数据库系统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/>
              </a:defRPr>
            </a:pPr>
            <a:r>
              <a:t>欢迎扫码访问实时大屏  |  GitHub: sou1maker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8888"/>
                </a:solidFill>
                <a:latin typeface="微软雅黑"/>
              </a:defRPr>
            </a:pPr>
            <a:r>
              <a:t>MySQL 8.0 · Flask · ECharts · DeepSeek AI  |  2026 年 6 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